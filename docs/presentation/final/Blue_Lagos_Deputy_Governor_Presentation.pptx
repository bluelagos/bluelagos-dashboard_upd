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Blue Lagos connects direct community engagement, practical action and better planning for riverine Lagos.</a:t>
            </a:r>
          </a:p>
          <a:p/>
          <a:p>
            <a:r>
              <a:t>SAY THIS</a:t>
            </a:r>
          </a:p>
          <a:p>
            <a:r>
              <a:t>Your Excellency, thank you for the opportunity. Blue Lagos works directly with riverine communities to understand their needs and connect those needs to practical action. Today I will briefly show who we are, what we have done, what the field evidence is telling us, and how Lagos State can use this foundation to plan better interventions.</a:t>
            </a:r>
          </a:p>
          <a:p/>
          <a:p>
            <a:r>
              <a:t>TECHNICAL BACKUP</a:t>
            </a:r>
          </a:p>
          <a:p>
            <a:r>
              <a:t>The 502,002 figure is the sum of current community-reported population values across all 134 records in the verified field register, updated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Blue Lagos is a community-facing initiative built around listening, understanding and practical action.</a:t>
            </a:r>
          </a:p>
          <a:p/>
          <a:p>
            <a:r>
              <a:t>SAY THIS</a:t>
            </a:r>
          </a:p>
          <a:p>
            <a:r>
              <a:t>Before the numbers, it is important to say who we are. Blue Lagos listens by engaging communities and their local leadership. We understand by collecting and mapping community-level evidence, and we act by connecting that evidence to practical interventions and partners. Our focus is riverine and coastal Lagos, where daily realities are different from inland, road-connected communities.</a:t>
            </a:r>
          </a:p>
          <a:p/>
          <a:p>
            <a:r>
              <a:t>TECHNICAL BACKUP</a:t>
            </a:r>
          </a:p>
          <a:p>
            <a:r>
              <a:t>The initiative's documented work includes community enumeration, direct field engagement, telemedicine facilitation, civic inclusion support, the Yegunda water intervention and the Community 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Blue Lagos combines community presence, structured evidence and practical response.</a:t>
            </a:r>
          </a:p>
          <a:p/>
          <a:p>
            <a:r>
              <a:t>SAY THIS</a:t>
            </a:r>
          </a:p>
          <a:p>
            <a:r>
              <a:t>Blue Lagos begins with relationships, not software. We reach communities directly, including places where access depends on water. We organize what communities tell us into evidence that can be compared and used, then work with communities, partners and government around practical responses. That bridge between local experience and coordinated action is the role Blue Lagos is building.</a:t>
            </a:r>
          </a:p>
          <a:p/>
          <a:p>
            <a:r>
              <a:t>TECHNICAL BACKUP</a:t>
            </a:r>
          </a:p>
          <a:p>
            <a:r>
              <a:t>The next slides separate the verified register, field findings, delivered activities and planning analysis so that each claim retains its correct source.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Blue Lagos built the evidence base community by community and has physically engaged communities across the participating LGAs.</a:t>
            </a:r>
          </a:p>
          <a:p/>
          <a:p>
            <a:r>
              <a:t>SAY THIS</a:t>
            </a:r>
          </a:p>
          <a:p>
            <a:r>
              <a:t>We did not start by trying to build a dashboard. We started by identifying the communities themselves. Today our structured register covers 134 riverine communities representing 502,002 people, and our team has physically visited up to 18 communities across the participating LGAs. We collected evidence about population, health, water, access, infrastructure, livelihoods, the environment and community priorities.</a:t>
            </a:r>
          </a:p>
          <a:p/>
          <a:p>
            <a:r>
              <a:t>TECHNICAL BACKUP</a:t>
            </a:r>
          </a:p>
          <a:p>
            <a:r>
              <a:t>The 134 and 502,002 figures come from the verified September 2026 register. Ninety-three records currently have usable coordinates; the physical-visit figure is the current Blue Lagos programme total supplied for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recurring pattern is overlapping pressure across health, access, environment, infrastructure and livelihoods.</a:t>
            </a:r>
          </a:p>
          <a:p/>
          <a:p>
            <a:r>
              <a:t>SAY THIS</a:t>
            </a:r>
          </a:p>
          <a:p>
            <a:r>
              <a:t>The communities are not identical, but the same broad problems keep appearing in different combinations. We see gaps in health and water, difficult physical access, environmental pressure, missing infrastructure and livelihoods constrained by geography. Fishing remains the primary occupation in almost two-thirds of the surveyed communities, so access and environmental conditions also affect household income.</a:t>
            </a:r>
          </a:p>
          <a:p/>
          <a:p>
            <a:r>
              <a:t>TECHNICAL BACKUP</a:t>
            </a:r>
          </a:p>
          <a:p>
            <a:r>
              <a:t>Percentages come from fixed-category field responses in the August 2026 baseline report and raw field register. They are shares of the 134 surveyed communities and do not imply that every community has every problem.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Healthcare access combines facility availability, safe water, sanitation and the practical ability to move a patient.</a:t>
            </a:r>
          </a:p>
          <a:p/>
          <a:p>
            <a:r>
              <a:t>SAY THIS</a:t>
            </a:r>
          </a:p>
          <a:p>
            <a:r>
              <a:t>A clinic is not truly accessible if a patient cannot get safely from the community to the route. The field evidence shows major gaps in first aid, motorised evacuation, sanitation and drinking water. The map adds straight-line screening distance to the nearest mapped health facility, but the real journey can still be harder because it may depend on water transport.</a:t>
            </a:r>
          </a:p>
          <a:p/>
          <a:p>
            <a:r>
              <a:t>TECHNICAL BACKUP</a:t>
            </a:r>
          </a:p>
          <a:p>
            <a:r>
              <a:t>The percentages are survey response shares. Facility distances use great-circle distance to OSM-mapped health facilities; they are not travel time and do not verify that a mapped facility is operational.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Waterways and landing points are part of the service-delivery system for riverine communities.</a:t>
            </a:r>
          </a:p>
          <a:p/>
          <a:p>
            <a:r>
              <a:t>SAY THIS</a:t>
            </a:r>
          </a:p>
          <a:p>
            <a:r>
              <a:t>For many communities, water is part of the transport network. That affects emergency evacuation, healthcare, education, access to markets and jobs, and even how government teams reach residents. Looking only at roads leaves out a major part of how these communities move.</a:t>
            </a:r>
          </a:p>
          <a:p/>
          <a:p>
            <a:r>
              <a:t>TECHNICAL BACKUP</a:t>
            </a:r>
          </a:p>
          <a:p>
            <a:r>
              <a:t>The map combines geolocated survey communities with OSM-mapped waterways and marine-access points. These are contextual open-mapping features, not an official jetty register or a verified navigable network.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Environmental pressure is already experienced as loss of land, housing and livelihood security.</a:t>
            </a:r>
          </a:p>
          <a:p/>
          <a:p>
            <a:r>
              <a:t>SAY THIS</a:t>
            </a:r>
          </a:p>
          <a:p>
            <a:r>
              <a:t>Communities are not discussing flooding and erosion as distant climate concepts. More than one in five reported losing living space or houses to erosion or water encroachment. These report maps add historical spatial context, while the community impacts remain field evidence.</a:t>
            </a:r>
          </a:p>
          <a:p/>
          <a:p>
            <a:r>
              <a:t>TECHNICAL BACKUP</a:t>
            </a:r>
          </a:p>
          <a:p>
            <a:r>
              <a:t>The cartography is reproduced from the August 2026 baseline report. It is not presented as a live platform layer or new satellite analysis.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platform can move from the State view to a specific community record without losing context.</a:t>
            </a:r>
          </a:p>
          <a:p/>
          <a:p>
            <a:r>
              <a:t>SAY THIS</a:t>
            </a:r>
          </a:p>
          <a:p>
            <a:r>
              <a:t>Yegunda is one example. Its baseline combines a road-and-water route, no recorded medical evacuation means, well water, open defecation, prolonged flood stagnation and a wooden landing. Its stated priorities included water, health, education, power and a jetty. The point is not that every community is the same, but that each one can be understood on its own evidence.</a:t>
            </a:r>
          </a:p>
          <a:p/>
          <a:p>
            <a:r>
              <a:t>TECHNICAL BACKUP</a:t>
            </a:r>
          </a:p>
          <a:p>
            <a:r>
              <a:t>The population is a community-reported estimate and is not a borehole beneficiary count. The marine-access statement is based on OSM-mapped points and straight-line proximity.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Blue Lagos has already connected field evidence to health, water and civic-inclusion action.</a:t>
            </a:r>
          </a:p>
          <a:p/>
          <a:p>
            <a:r>
              <a:t>SAY THIS</a:t>
            </a:r>
          </a:p>
          <a:p>
            <a:r>
              <a:t>We did not stop at collecting data. Blue Lagos facilitated telemedicine support across 120 riverine communities. In Yegunda Community, Epe, we donated or facilitated a solar-powered borehole, and we have also supported PVC registration activities in selected riverine communities so residents can participate more fully in civic processes. These actions show how a community register can help direct practical response.</a:t>
            </a:r>
          </a:p>
          <a:p/>
          <a:p>
            <a:r>
              <a:t>TECHNICAL BACKUP</a:t>
            </a:r>
          </a:p>
          <a:p>
            <a:r>
              <a:t>No PVC-registration or borehole beneficiary count is claimed. The telemedicine figure is the corrected programme total of 120 communities supplied for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Blue Lagos Community Map organizes the field evidence without becoming the centre of the story.</a:t>
            </a:r>
          </a:p>
          <a:p/>
          <a:p>
            <a:r>
              <a:t>SAY THIS</a:t>
            </a:r>
          </a:p>
          <a:p>
            <a:r>
              <a:t>After the fieldwork and interventions, we needed one place to connect the evidence. The Blue Lagos Community Map lets us find communities, open individual profiles, see where needs concentrate, compare health and transport context, view environmental evidence and test possible intervention reach. It is an organizing and planning tool built on the community work, not a replacement for it.</a:t>
            </a:r>
          </a:p>
          <a:p/>
          <a:p>
            <a:r>
              <a:t>TECHNICAL BACKUP</a:t>
            </a:r>
          </a:p>
          <a:p>
            <a:r>
              <a:t>The interface uses the verified register and reviewed spatial layers. Technical implementation details are deliberately left for questions; open-mapping layers remain clearly sourced and are not described as official registries.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Community grouping can help government and partners compare where one intervention may reach several nearby settlements.</a:t>
            </a:r>
          </a:p>
          <a:p/>
          <a:p>
            <a:r>
              <a:t>SAY THIS</a:t>
            </a:r>
          </a:p>
          <a:p>
            <a:r>
              <a:t>Some interventions do not have to be planned one settlement at a time. This example screens the Ito Agan community location and finds 11 surveyed communities, representing 75,242 people, within a five-kilometre straight-line radius. It helps compare possible shared health, water or emergency-service options before detailed feasibility work begins.</a:t>
            </a:r>
          </a:p>
          <a:p/>
          <a:p>
            <a:r>
              <a:t>TECHNICAL BACKUP</a:t>
            </a:r>
          </a:p>
          <a:p>
            <a:r>
              <a:t>The calculation uses Haversine straight-line distance and current register population. It excludes land tenure, engineering suitability, capacity, cost, navigability and travel time, so it is not a final site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evidence can help government, partners and communities target practical interventions across five connected areas.</a:t>
            </a:r>
          </a:p>
          <a:p/>
          <a:p>
            <a:r>
              <a:t>SAY THIS</a:t>
            </a:r>
          </a:p>
          <a:p>
            <a:r>
              <a:t>The next step is to connect evidence directly to service planning. In health, that can mean riverine access, emergency points and telemedicine. In water, safe water points and sanitation. In access, better landings and emergency transport. The same evidence can support environmental monitoring and livelihood access. Blue Lagos is not claiming it will fund all of this; the value is helping the right actors target it.</a:t>
            </a:r>
          </a:p>
          <a:p/>
          <a:p>
            <a:r>
              <a:t>TECHNICAL BACKUP</a:t>
            </a:r>
          </a:p>
          <a:p>
            <a:r>
              <a:t>These are planning opportunities derived from the recorded needs and platform capabilities, not approved projects, budgets or Blue Lagos delivery commitments.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KOH Meets Lagos Riverine Communities is a proposed engagement agenda for Dr. Kadri Obafemi Hamzat, not the name of an organisation.</a:t>
            </a:r>
          </a:p>
          <a:p/>
          <a:p>
            <a:r>
              <a:t>SAY THIS</a:t>
            </a:r>
          </a:p>
          <a:p>
            <a:r>
              <a:t>This proposed agenda creates a practical route from evidence to action. It would allow His Excellency to hear the community realities, see the field register and maps, review the work already facilitated, select one priority pilot, convene the relevant MDAs and partners, and agree a clear follow-up pathway. The intention is a focused engagement that leads to one coordinated next step.</a:t>
            </a:r>
          </a:p>
          <a:p/>
          <a:p>
            <a:r>
              <a:t>TECHNICAL BACKUP</a:t>
            </a:r>
          </a:p>
          <a:p>
            <a:r>
              <a:t>KOH refers to Dr. Kadri Obafemi Hamzat, Deputy Governor of Lagos State. No separate KOH organisation, funding envelope or programme ownership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MESSAGE</a:t>
            </a:r>
          </a:p>
          <a:p>
            <a:r>
              <a:t>The ask is to connect, pilot and scale a repeatable riverine planning programme.</a:t>
            </a:r>
          </a:p>
          <a:p/>
          <a:p>
            <a:r>
              <a:t>SAY THIS</a:t>
            </a:r>
          </a:p>
          <a:p>
            <a:r>
              <a:t>Your Excellency, our ask is straightforward. Connect Blue Lagos with the relevant MDAs and data owners. Select priority communities or clusters where this approach can support a real intervention. Then help us build a repeatable framework for updating community data and monitoring delivery across riverine Lagos. The goal is simple: make it easier for riverine communities to be seen, understood and served.</a:t>
            </a:r>
          </a:p>
          <a:p/>
          <a:p>
            <a:r>
              <a:t>TECHNICAL BACKUP</a:t>
            </a:r>
          </a:p>
          <a:p>
            <a:r>
              <a:t>The closing figures are 134 communities enumerated, 502,002 people represented in the register and telemedicine support facilitated for 120 riverine communities. No funding amount is proposed in this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2.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C2C"/>
        </a:solidFill>
        <a:effectLst/>
      </p:bgPr>
    </p:bg>
    <p:spTree>
      <p:nvGrpSpPr>
        <p:cNvPr id="1" name=""/>
        <p:cNvGrpSpPr/>
        <p:nvPr/>
      </p:nvGrpSpPr>
      <p:grpSpPr/>
      <p:pic>
        <p:nvPicPr>
          <p:cNvPr id="2" name="Picture 1" descr="crop_hero_908_0_425_750.jpg"/>
          <p:cNvPicPr>
            <a:picLocks noChangeAspect="1"/>
          </p:cNvPicPr>
          <p:nvPr/>
        </p:nvPicPr>
        <p:blipFill>
          <a:blip r:embed="rId2"/>
          <a:stretch>
            <a:fillRect/>
          </a:stretch>
        </p:blipFill>
        <p:spPr>
          <a:xfrm>
            <a:off x="8302752" y="0"/>
            <a:ext cx="3886200" cy="6858000"/>
          </a:xfrm>
          <a:prstGeom prst="rect">
            <a:avLst/>
          </a:prstGeom>
        </p:spPr>
      </p:pic>
      <p:sp>
        <p:nvSpPr>
          <p:cNvPr id="3" name="Rectangle 2"/>
          <p:cNvSpPr/>
          <p:nvPr/>
        </p:nvSpPr>
        <p:spPr>
          <a:xfrm>
            <a:off x="8211312" y="0"/>
            <a:ext cx="91440" cy="6858000"/>
          </a:xfrm>
          <a:prstGeom prst="rect">
            <a:avLst/>
          </a:prstGeom>
          <a:solidFill>
            <a:srgbClr val="1A9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Official Blue Lagos logo extracted from baseline report" descr="blue_lagos_logo.png"/>
          <p:cNvPicPr>
            <a:picLocks noChangeAspect="1"/>
          </p:cNvPicPr>
          <p:nvPr/>
        </p:nvPicPr>
        <p:blipFill>
          <a:blip r:embed="rId3"/>
          <a:stretch>
            <a:fillRect/>
          </a:stretch>
        </p:blipFill>
        <p:spPr>
          <a:xfrm>
            <a:off x="658368" y="502920"/>
            <a:ext cx="2057400" cy="993675"/>
          </a:xfrm>
          <a:prstGeom prst="rect">
            <a:avLst/>
          </a:prstGeom>
        </p:spPr>
      </p:pic>
      <p:sp>
        <p:nvSpPr>
          <p:cNvPr id="5" name="TextBox 4"/>
          <p:cNvSpPr txBox="1"/>
          <p:nvPr/>
        </p:nvSpPr>
        <p:spPr>
          <a:xfrm>
            <a:off x="658368" y="1856231"/>
            <a:ext cx="7040880" cy="676656"/>
          </a:xfrm>
          <a:prstGeom prst="rect">
            <a:avLst/>
          </a:prstGeom>
          <a:noFill/>
        </p:spPr>
        <p:txBody>
          <a:bodyPr wrap="square" lIns="0" rIns="0" tIns="0" bIns="0" anchor="t">
            <a:spAutoFit/>
          </a:bodyPr>
          <a:lstStyle/>
          <a:p>
            <a:pPr algn="l">
              <a:spcAft>
                <a:spcPts val="0"/>
              </a:spcAft>
            </a:pPr>
            <a:r>
              <a:rPr sz="3500" b="1">
                <a:solidFill>
                  <a:srgbClr val="FFFFFF"/>
                </a:solidFill>
                <a:latin typeface="Segoe UI Semibold"/>
              </a:rPr>
              <a:t>BLUE LAGOS</a:t>
            </a:r>
          </a:p>
        </p:txBody>
      </p:sp>
      <p:sp>
        <p:nvSpPr>
          <p:cNvPr id="6" name="TextBox 5"/>
          <p:cNvSpPr txBox="1"/>
          <p:nvPr/>
        </p:nvSpPr>
        <p:spPr>
          <a:xfrm>
            <a:off x="676656" y="2578608"/>
            <a:ext cx="7315200" cy="969264"/>
          </a:xfrm>
          <a:prstGeom prst="rect">
            <a:avLst/>
          </a:prstGeom>
          <a:noFill/>
        </p:spPr>
        <p:txBody>
          <a:bodyPr wrap="square" lIns="0" rIns="0" tIns="0" bIns="0" anchor="t">
            <a:spAutoFit/>
          </a:bodyPr>
          <a:lstStyle/>
          <a:p>
            <a:pPr algn="l">
              <a:spcAft>
                <a:spcPts val="0"/>
              </a:spcAft>
            </a:pPr>
            <a:r>
              <a:rPr sz="2500" b="1">
                <a:solidFill>
                  <a:srgbClr val="FFFFFF"/>
                </a:solidFill>
                <a:latin typeface="Segoe UI Semibold"/>
              </a:rPr>
              <a:t>From Riverine Communities
to Better Decisions</a:t>
            </a:r>
          </a:p>
        </p:txBody>
      </p:sp>
      <p:sp>
        <p:nvSpPr>
          <p:cNvPr id="7" name="TextBox 6"/>
          <p:cNvSpPr txBox="1"/>
          <p:nvPr/>
        </p:nvSpPr>
        <p:spPr>
          <a:xfrm>
            <a:off x="676656" y="3858768"/>
            <a:ext cx="7680960" cy="384048"/>
          </a:xfrm>
          <a:prstGeom prst="rect">
            <a:avLst/>
          </a:prstGeom>
          <a:noFill/>
        </p:spPr>
        <p:txBody>
          <a:bodyPr wrap="square" lIns="0" rIns="0" tIns="0" bIns="0" anchor="t">
            <a:spAutoFit/>
          </a:bodyPr>
          <a:lstStyle/>
          <a:p>
            <a:pPr algn="l">
              <a:spcAft>
                <a:spcPts val="0"/>
              </a:spcAft>
            </a:pPr>
            <a:r>
              <a:rPr sz="2000" b="1">
                <a:solidFill>
                  <a:srgbClr val="67D6CF"/>
                </a:solidFill>
                <a:latin typeface="Segoe UI"/>
              </a:rPr>
              <a:t>134 communities</a:t>
            </a:r>
            <a:r>
              <a:rPr sz="1800" b="0">
                <a:solidFill>
                  <a:srgbClr val="BFD1D9"/>
                </a:solidFill>
                <a:latin typeface="Segoe UI"/>
              </a:rPr>
              <a:t>  |  </a:t>
            </a:r>
            <a:r>
              <a:rPr sz="2000" b="1">
                <a:solidFill>
                  <a:srgbClr val="FFFFFF"/>
                </a:solidFill>
                <a:latin typeface="Segoe UI"/>
              </a:rPr>
              <a:t>502,002 people represented</a:t>
            </a:r>
          </a:p>
        </p:txBody>
      </p:sp>
      <p:sp>
        <p:nvSpPr>
          <p:cNvPr id="8" name="TextBox 7"/>
          <p:cNvSpPr txBox="1"/>
          <p:nvPr/>
        </p:nvSpPr>
        <p:spPr>
          <a:xfrm>
            <a:off x="676656" y="4910328"/>
            <a:ext cx="5074920" cy="256032"/>
          </a:xfrm>
          <a:prstGeom prst="rect">
            <a:avLst/>
          </a:prstGeom>
          <a:noFill/>
        </p:spPr>
        <p:txBody>
          <a:bodyPr wrap="square" lIns="0" rIns="0" tIns="0" bIns="0" anchor="t">
            <a:spAutoFit/>
          </a:bodyPr>
          <a:lstStyle/>
          <a:p>
            <a:pPr algn="l">
              <a:spcAft>
                <a:spcPts val="0"/>
              </a:spcAft>
            </a:pPr>
            <a:r>
              <a:rPr sz="1200" b="1">
                <a:solidFill>
                  <a:srgbClr val="67D6CF"/>
                </a:solidFill>
                <a:latin typeface="Segoe UI"/>
              </a:rPr>
              <a:t>COMMUNITY  •  EVIDENCE  •  ACTION</a:t>
            </a:r>
          </a:p>
        </p:txBody>
      </p:sp>
      <p:sp>
        <p:nvSpPr>
          <p:cNvPr id="9" name="TextBox 8"/>
          <p:cNvSpPr txBox="1"/>
          <p:nvPr/>
        </p:nvSpPr>
        <p:spPr>
          <a:xfrm>
            <a:off x="676656" y="5779008"/>
            <a:ext cx="4480560" cy="237744"/>
          </a:xfrm>
          <a:prstGeom prst="rect">
            <a:avLst/>
          </a:prstGeom>
          <a:noFill/>
        </p:spPr>
        <p:txBody>
          <a:bodyPr wrap="square" lIns="0" rIns="0" tIns="0" bIns="0" anchor="t">
            <a:spAutoFit/>
          </a:bodyPr>
          <a:lstStyle/>
          <a:p>
            <a:pPr algn="l">
              <a:spcAft>
                <a:spcPts val="0"/>
              </a:spcAft>
            </a:pPr>
            <a:r>
              <a:rPr sz="1200" b="1">
                <a:solidFill>
                  <a:srgbClr val="DCE7EA"/>
                </a:solidFill>
                <a:latin typeface="Segoe UI"/>
              </a:rPr>
              <a:t>Blue Lagos Sustainability Initiative</a:t>
            </a:r>
          </a:p>
        </p:txBody>
      </p:sp>
      <p:sp>
        <p:nvSpPr>
          <p:cNvPr id="10" name="TextBox 9"/>
          <p:cNvSpPr txBox="1"/>
          <p:nvPr/>
        </p:nvSpPr>
        <p:spPr>
          <a:xfrm>
            <a:off x="6007608" y="6053328"/>
            <a:ext cx="1755648" cy="201168"/>
          </a:xfrm>
          <a:prstGeom prst="rect">
            <a:avLst/>
          </a:prstGeom>
          <a:noFill/>
        </p:spPr>
        <p:txBody>
          <a:bodyPr wrap="square" lIns="0" rIns="0" tIns="0" bIns="0" anchor="t">
            <a:spAutoFit/>
          </a:bodyPr>
          <a:lstStyle/>
          <a:p>
            <a:pPr algn="r">
              <a:spcAft>
                <a:spcPts val="0"/>
              </a:spcAft>
            </a:pPr>
            <a:r>
              <a:rPr sz="1000" b="1">
                <a:solidFill>
                  <a:srgbClr val="BFD1D9"/>
                </a:solidFill>
                <a:latin typeface="Segoe UI"/>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WHO WE ARE</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132A38"/>
                </a:solidFill>
                <a:latin typeface="Segoe UI Semibold"/>
              </a:rPr>
              <a:t>Blue Lagos listens, understands and acts.</a:t>
            </a:r>
          </a:p>
        </p:txBody>
      </p:sp>
      <p:sp>
        <p:nvSpPr>
          <p:cNvPr id="4" name="TextBox 3"/>
          <p:cNvSpPr txBox="1"/>
          <p:nvPr/>
        </p:nvSpPr>
        <p:spPr>
          <a:xfrm>
            <a:off x="676656" y="1408176"/>
            <a:ext cx="10469880" cy="438912"/>
          </a:xfrm>
          <a:prstGeom prst="rect">
            <a:avLst/>
          </a:prstGeom>
          <a:noFill/>
        </p:spPr>
        <p:txBody>
          <a:bodyPr wrap="square" lIns="0" rIns="0" tIns="0" bIns="0" anchor="t">
            <a:spAutoFit/>
          </a:bodyPr>
          <a:lstStyle/>
          <a:p>
            <a:pPr algn="l">
              <a:spcAft>
                <a:spcPts val="0"/>
              </a:spcAft>
            </a:pPr>
            <a:r>
              <a:rPr sz="1450" b="0">
                <a:solidFill>
                  <a:srgbClr val="60717B"/>
                </a:solidFill>
                <a:latin typeface="Segoe UI"/>
              </a:rPr>
              <a:t>We work with Lagos' riverine communities to turn local evidence into practical action.</a:t>
            </a:r>
          </a:p>
        </p:txBody>
      </p:sp>
      <p:sp>
        <p:nvSpPr>
          <p:cNvPr id="5" name="TextBox 4"/>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60717B"/>
                </a:solidFill>
                <a:latin typeface="Segoe UI"/>
              </a:rPr>
              <a:t>02</a:t>
            </a:r>
          </a:p>
        </p:txBody>
      </p:sp>
      <p:pic>
        <p:nvPicPr>
          <p:cNvPr id="6" name="Picture 5" descr="crop_engage_72_216_434_450.jpg"/>
          <p:cNvPicPr>
            <a:picLocks noChangeAspect="1"/>
          </p:cNvPicPr>
          <p:nvPr/>
        </p:nvPicPr>
        <p:blipFill>
          <a:blip r:embed="rId2"/>
          <a:stretch>
            <a:fillRect/>
          </a:stretch>
        </p:blipFill>
        <p:spPr>
          <a:xfrm>
            <a:off x="658368" y="1975104"/>
            <a:ext cx="3968496" cy="4114800"/>
          </a:xfrm>
          <a:prstGeom prst="rect">
            <a:avLst/>
          </a:prstGeom>
        </p:spPr>
      </p:pic>
      <p:sp>
        <p:nvSpPr>
          <p:cNvPr id="7" name="Rounded Rectangle 6"/>
          <p:cNvSpPr/>
          <p:nvPr/>
        </p:nvSpPr>
        <p:spPr>
          <a:xfrm>
            <a:off x="4956048" y="1975104"/>
            <a:ext cx="6547104" cy="978408"/>
          </a:xfrm>
          <a:prstGeom prst="roundRect">
            <a:avLst>
              <a:gd name="adj" fmla="val 8000"/>
            </a:avLst>
          </a:prstGeom>
          <a:solidFill>
            <a:srgbClr val="07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21224" y="2267712"/>
            <a:ext cx="457200" cy="219456"/>
          </a:xfrm>
          <a:prstGeom prst="rect">
            <a:avLst/>
          </a:prstGeom>
          <a:noFill/>
        </p:spPr>
        <p:txBody>
          <a:bodyPr wrap="square" lIns="0" rIns="0" tIns="0" bIns="0" anchor="t">
            <a:spAutoFit/>
          </a:bodyPr>
          <a:lstStyle/>
          <a:p>
            <a:pPr algn="l">
              <a:spcAft>
                <a:spcPts val="0"/>
              </a:spcAft>
            </a:pPr>
            <a:r>
              <a:rPr sz="1100" b="1">
                <a:solidFill>
                  <a:srgbClr val="0989C5"/>
                </a:solidFill>
                <a:latin typeface="Segoe UI"/>
              </a:rPr>
              <a:t>01</a:t>
            </a:r>
          </a:p>
        </p:txBody>
      </p:sp>
      <p:sp>
        <p:nvSpPr>
          <p:cNvPr id="9" name="TextBox 8"/>
          <p:cNvSpPr txBox="1"/>
          <p:nvPr/>
        </p:nvSpPr>
        <p:spPr>
          <a:xfrm>
            <a:off x="5797296" y="2221992"/>
            <a:ext cx="1499616" cy="265176"/>
          </a:xfrm>
          <a:prstGeom prst="rect">
            <a:avLst/>
          </a:prstGeom>
          <a:noFill/>
        </p:spPr>
        <p:txBody>
          <a:bodyPr wrap="square" lIns="0" rIns="0" tIns="0" bIns="0" anchor="t">
            <a:spAutoFit/>
          </a:bodyPr>
          <a:lstStyle/>
          <a:p>
            <a:pPr algn="l">
              <a:spcAft>
                <a:spcPts val="0"/>
              </a:spcAft>
            </a:pPr>
            <a:r>
              <a:rPr sz="1400" b="1">
                <a:solidFill>
                  <a:srgbClr val="67D6CF"/>
                </a:solidFill>
                <a:latin typeface="Segoe UI"/>
              </a:rPr>
              <a:t>LISTEN</a:t>
            </a:r>
          </a:p>
        </p:txBody>
      </p:sp>
      <p:sp>
        <p:nvSpPr>
          <p:cNvPr id="10" name="TextBox 9"/>
          <p:cNvSpPr txBox="1"/>
          <p:nvPr/>
        </p:nvSpPr>
        <p:spPr>
          <a:xfrm>
            <a:off x="7333488" y="2185416"/>
            <a:ext cx="3767328" cy="466344"/>
          </a:xfrm>
          <a:prstGeom prst="rect">
            <a:avLst/>
          </a:prstGeom>
          <a:noFill/>
        </p:spPr>
        <p:txBody>
          <a:bodyPr wrap="square" lIns="0" rIns="0" tIns="0" bIns="0" anchor="t">
            <a:spAutoFit/>
          </a:bodyPr>
          <a:lstStyle/>
          <a:p>
            <a:pPr algn="l">
              <a:spcAft>
                <a:spcPts val="0"/>
              </a:spcAft>
            </a:pPr>
            <a:r>
              <a:rPr sz="1500" b="1">
                <a:solidFill>
                  <a:srgbClr val="FFFFFF"/>
                </a:solidFill>
                <a:latin typeface="Segoe UI"/>
              </a:rPr>
              <a:t>Engage directly with communities and local leadership.</a:t>
            </a:r>
          </a:p>
        </p:txBody>
      </p:sp>
      <p:sp>
        <p:nvSpPr>
          <p:cNvPr id="11" name="Rounded Rectangle 10"/>
          <p:cNvSpPr/>
          <p:nvPr/>
        </p:nvSpPr>
        <p:spPr>
          <a:xfrm>
            <a:off x="4956048" y="3172968"/>
            <a:ext cx="6547104" cy="978408"/>
          </a:xfrm>
          <a:prstGeom prst="roundRect">
            <a:avLst>
              <a:gd name="adj" fmla="val 8000"/>
            </a:avLst>
          </a:prstGeom>
          <a:solidFill>
            <a:srgbClr val="FFFFFF"/>
          </a:solidFill>
          <a:ln w="10160">
            <a:solidFill>
              <a:srgbClr val="CCD8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21224" y="3465576"/>
            <a:ext cx="457200" cy="219456"/>
          </a:xfrm>
          <a:prstGeom prst="rect">
            <a:avLst/>
          </a:prstGeom>
          <a:noFill/>
        </p:spPr>
        <p:txBody>
          <a:bodyPr wrap="square" lIns="0" rIns="0" tIns="0" bIns="0" anchor="t">
            <a:spAutoFit/>
          </a:bodyPr>
          <a:lstStyle/>
          <a:p>
            <a:pPr algn="l">
              <a:spcAft>
                <a:spcPts val="0"/>
              </a:spcAft>
            </a:pPr>
            <a:r>
              <a:rPr sz="1100" b="1">
                <a:solidFill>
                  <a:srgbClr val="1A9C91"/>
                </a:solidFill>
                <a:latin typeface="Segoe UI"/>
              </a:rPr>
              <a:t>02</a:t>
            </a:r>
          </a:p>
        </p:txBody>
      </p:sp>
      <p:sp>
        <p:nvSpPr>
          <p:cNvPr id="13" name="TextBox 12"/>
          <p:cNvSpPr txBox="1"/>
          <p:nvPr/>
        </p:nvSpPr>
        <p:spPr>
          <a:xfrm>
            <a:off x="5797296" y="3419856"/>
            <a:ext cx="1499616" cy="265176"/>
          </a:xfrm>
          <a:prstGeom prst="rect">
            <a:avLst/>
          </a:prstGeom>
          <a:noFill/>
        </p:spPr>
        <p:txBody>
          <a:bodyPr wrap="square" lIns="0" rIns="0" tIns="0" bIns="0" anchor="t">
            <a:spAutoFit/>
          </a:bodyPr>
          <a:lstStyle/>
          <a:p>
            <a:pPr algn="l">
              <a:spcAft>
                <a:spcPts val="0"/>
              </a:spcAft>
            </a:pPr>
            <a:r>
              <a:rPr sz="1400" b="1">
                <a:solidFill>
                  <a:srgbClr val="1A9C91"/>
                </a:solidFill>
                <a:latin typeface="Segoe UI"/>
              </a:rPr>
              <a:t>UNDERSTAND</a:t>
            </a:r>
          </a:p>
        </p:txBody>
      </p:sp>
      <p:sp>
        <p:nvSpPr>
          <p:cNvPr id="14" name="TextBox 13"/>
          <p:cNvSpPr txBox="1"/>
          <p:nvPr/>
        </p:nvSpPr>
        <p:spPr>
          <a:xfrm>
            <a:off x="7333488" y="3383280"/>
            <a:ext cx="3767328" cy="466344"/>
          </a:xfrm>
          <a:prstGeom prst="rect">
            <a:avLst/>
          </a:prstGeom>
          <a:noFill/>
        </p:spPr>
        <p:txBody>
          <a:bodyPr wrap="square" lIns="0" rIns="0" tIns="0" bIns="0" anchor="t">
            <a:spAutoFit/>
          </a:bodyPr>
          <a:lstStyle/>
          <a:p>
            <a:pPr algn="l">
              <a:spcAft>
                <a:spcPts val="0"/>
              </a:spcAft>
            </a:pPr>
            <a:r>
              <a:rPr sz="1500" b="1">
                <a:solidFill>
                  <a:srgbClr val="132A38"/>
                </a:solidFill>
                <a:latin typeface="Segoe UI"/>
              </a:rPr>
              <a:t>Collect and map community-level evidence.</a:t>
            </a:r>
          </a:p>
        </p:txBody>
      </p:sp>
      <p:sp>
        <p:nvSpPr>
          <p:cNvPr id="15" name="Rounded Rectangle 14"/>
          <p:cNvSpPr/>
          <p:nvPr/>
        </p:nvSpPr>
        <p:spPr>
          <a:xfrm>
            <a:off x="4956048" y="4370832"/>
            <a:ext cx="6547104" cy="978408"/>
          </a:xfrm>
          <a:prstGeom prst="roundRect">
            <a:avLst>
              <a:gd name="adj" fmla="val 8000"/>
            </a:avLst>
          </a:prstGeom>
          <a:solidFill>
            <a:srgbClr val="DD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21224" y="4663440"/>
            <a:ext cx="457200" cy="219456"/>
          </a:xfrm>
          <a:prstGeom prst="rect">
            <a:avLst/>
          </a:prstGeom>
          <a:noFill/>
        </p:spPr>
        <p:txBody>
          <a:bodyPr wrap="square" lIns="0" rIns="0" tIns="0" bIns="0" anchor="t">
            <a:spAutoFit/>
          </a:bodyPr>
          <a:lstStyle/>
          <a:p>
            <a:pPr algn="l">
              <a:spcAft>
                <a:spcPts val="0"/>
              </a:spcAft>
            </a:pPr>
            <a:r>
              <a:rPr sz="1100" b="1">
                <a:solidFill>
                  <a:srgbClr val="2D8A67"/>
                </a:solidFill>
                <a:latin typeface="Segoe UI"/>
              </a:rPr>
              <a:t>03</a:t>
            </a:r>
          </a:p>
        </p:txBody>
      </p:sp>
      <p:sp>
        <p:nvSpPr>
          <p:cNvPr id="17" name="TextBox 16"/>
          <p:cNvSpPr txBox="1"/>
          <p:nvPr/>
        </p:nvSpPr>
        <p:spPr>
          <a:xfrm>
            <a:off x="5797296" y="4617720"/>
            <a:ext cx="1499616" cy="265176"/>
          </a:xfrm>
          <a:prstGeom prst="rect">
            <a:avLst/>
          </a:prstGeom>
          <a:noFill/>
        </p:spPr>
        <p:txBody>
          <a:bodyPr wrap="square" lIns="0" rIns="0" tIns="0" bIns="0" anchor="t">
            <a:spAutoFit/>
          </a:bodyPr>
          <a:lstStyle/>
          <a:p>
            <a:pPr algn="l">
              <a:spcAft>
                <a:spcPts val="0"/>
              </a:spcAft>
            </a:pPr>
            <a:r>
              <a:rPr sz="1400" b="1">
                <a:solidFill>
                  <a:srgbClr val="2D8A67"/>
                </a:solidFill>
                <a:latin typeface="Segoe UI"/>
              </a:rPr>
              <a:t>ACT</a:t>
            </a:r>
          </a:p>
        </p:txBody>
      </p:sp>
      <p:sp>
        <p:nvSpPr>
          <p:cNvPr id="18" name="TextBox 17"/>
          <p:cNvSpPr txBox="1"/>
          <p:nvPr/>
        </p:nvSpPr>
        <p:spPr>
          <a:xfrm>
            <a:off x="7333488" y="4581144"/>
            <a:ext cx="3767328" cy="466344"/>
          </a:xfrm>
          <a:prstGeom prst="rect">
            <a:avLst/>
          </a:prstGeom>
          <a:noFill/>
        </p:spPr>
        <p:txBody>
          <a:bodyPr wrap="square" lIns="0" rIns="0" tIns="0" bIns="0" anchor="t">
            <a:spAutoFit/>
          </a:bodyPr>
          <a:lstStyle/>
          <a:p>
            <a:pPr algn="l">
              <a:spcAft>
                <a:spcPts val="0"/>
              </a:spcAft>
            </a:pPr>
            <a:r>
              <a:rPr sz="1500" b="1">
                <a:solidFill>
                  <a:srgbClr val="132A38"/>
                </a:solidFill>
                <a:latin typeface="Segoe UI"/>
              </a:rPr>
              <a:t>Connect needs to interventions and partnerships.</a:t>
            </a:r>
          </a:p>
        </p:txBody>
      </p:sp>
      <p:sp>
        <p:nvSpPr>
          <p:cNvPr id="19" name="TextBox 18"/>
          <p:cNvSpPr txBox="1"/>
          <p:nvPr/>
        </p:nvSpPr>
        <p:spPr>
          <a:xfrm>
            <a:off x="4974336" y="5678424"/>
            <a:ext cx="6309360" cy="393192"/>
          </a:xfrm>
          <a:prstGeom prst="rect">
            <a:avLst/>
          </a:prstGeom>
          <a:noFill/>
        </p:spPr>
        <p:txBody>
          <a:bodyPr wrap="square" lIns="0" rIns="0" tIns="0" bIns="0" anchor="t">
            <a:spAutoFit/>
          </a:bodyPr>
          <a:lstStyle/>
          <a:p>
            <a:pPr algn="l">
              <a:spcAft>
                <a:spcPts val="0"/>
              </a:spcAft>
            </a:pPr>
            <a:r>
              <a:rPr sz="1250" b="1">
                <a:solidFill>
                  <a:srgbClr val="60717B"/>
                </a:solidFill>
                <a:latin typeface="Segoe UI"/>
              </a:rPr>
              <a:t>Our focus is the riverine and coastal communities where access, health, infrastructure, livelihoods and environmental pressure differ from inland Lagos.</a:t>
            </a:r>
          </a:p>
        </p:txBody>
      </p:sp>
      <p:sp>
        <p:nvSpPr>
          <p:cNvPr id="20" name="Rectangle 19"/>
          <p:cNvSpPr/>
          <p:nvPr/>
        </p:nvSpPr>
        <p:spPr>
          <a:xfrm>
            <a:off x="658368" y="6510528"/>
            <a:ext cx="10844784" cy="10972"/>
          </a:xfrm>
          <a:prstGeom prst="rect">
            <a:avLst/>
          </a:prstGeom>
          <a:solidFill>
            <a:srgbClr val="CCD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60717B"/>
                </a:solidFill>
                <a:latin typeface="Segoe UI"/>
              </a:rPr>
              <a:t>Blue Lagos field engagement photograph, reproduced from the Community Baseline Report.</a:t>
            </a:r>
          </a:p>
        </p:txBody>
      </p:sp>
      <p:sp>
        <p:nvSpPr>
          <p:cNvPr id="22" name="TextBox 21"/>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60717B"/>
                </a:solidFill>
                <a:latin typeface="Segoe UI"/>
              </a:rPr>
              <a:t>BLUE LAGOS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HOW BLUE LAGOS WORKS</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132A38"/>
                </a:solidFill>
                <a:latin typeface="Segoe UI Semibold"/>
              </a:rPr>
              <a:t>From community relationships to practical response.</a:t>
            </a:r>
          </a:p>
        </p:txBody>
      </p:sp>
      <p:sp>
        <p:nvSpPr>
          <p:cNvPr id="4" name="TextBox 3"/>
          <p:cNvSpPr txBox="1"/>
          <p:nvPr/>
        </p:nvSpPr>
        <p:spPr>
          <a:xfrm>
            <a:off x="676656" y="1408176"/>
            <a:ext cx="10469880" cy="438912"/>
          </a:xfrm>
          <a:prstGeom prst="rect">
            <a:avLst/>
          </a:prstGeom>
          <a:noFill/>
        </p:spPr>
        <p:txBody>
          <a:bodyPr wrap="square" lIns="0" rIns="0" tIns="0" bIns="0" anchor="t">
            <a:spAutoFit/>
          </a:bodyPr>
          <a:lstStyle/>
          <a:p>
            <a:pPr algn="l">
              <a:spcAft>
                <a:spcPts val="0"/>
              </a:spcAft>
            </a:pPr>
            <a:r>
              <a:rPr sz="1450" b="0">
                <a:solidFill>
                  <a:srgbClr val="60717B"/>
                </a:solidFill>
                <a:latin typeface="Segoe UI"/>
              </a:rPr>
              <a:t>Our role is to stay close enough to communities to understand the need, organize the evidence and help bring the right response together.</a:t>
            </a:r>
          </a:p>
        </p:txBody>
      </p:sp>
      <p:sp>
        <p:nvSpPr>
          <p:cNvPr id="5" name="TextBox 4"/>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60717B"/>
                </a:solidFill>
                <a:latin typeface="Segoe UI"/>
              </a:rPr>
              <a:t>03</a:t>
            </a:r>
          </a:p>
        </p:txBody>
      </p:sp>
      <p:pic>
        <p:nvPicPr>
          <p:cNvPr id="6" name="Picture 5" descr="crop_team_water_72_213_440_451.jpg"/>
          <p:cNvPicPr>
            <a:picLocks noChangeAspect="1"/>
          </p:cNvPicPr>
          <p:nvPr/>
        </p:nvPicPr>
        <p:blipFill>
          <a:blip r:embed="rId2"/>
          <a:stretch>
            <a:fillRect/>
          </a:stretch>
        </p:blipFill>
        <p:spPr>
          <a:xfrm>
            <a:off x="658368" y="1947672"/>
            <a:ext cx="4023360" cy="4133087"/>
          </a:xfrm>
          <a:prstGeom prst="rect">
            <a:avLst/>
          </a:prstGeom>
        </p:spPr>
      </p:pic>
      <p:sp>
        <p:nvSpPr>
          <p:cNvPr id="7" name="Rounded Rectangle 6"/>
          <p:cNvSpPr/>
          <p:nvPr/>
        </p:nvSpPr>
        <p:spPr>
          <a:xfrm>
            <a:off x="5010912" y="1947672"/>
            <a:ext cx="6492240" cy="987552"/>
          </a:xfrm>
          <a:prstGeom prst="roundRect">
            <a:avLst>
              <a:gd name="adj" fmla="val 8000"/>
            </a:avLst>
          </a:prstGeom>
          <a:solidFill>
            <a:srgbClr val="07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66944" y="2231136"/>
            <a:ext cx="457200" cy="210312"/>
          </a:xfrm>
          <a:prstGeom prst="rect">
            <a:avLst/>
          </a:prstGeom>
          <a:noFill/>
        </p:spPr>
        <p:txBody>
          <a:bodyPr wrap="square" lIns="0" rIns="0" tIns="0" bIns="0" anchor="t">
            <a:spAutoFit/>
          </a:bodyPr>
          <a:lstStyle/>
          <a:p>
            <a:pPr algn="l">
              <a:spcAft>
                <a:spcPts val="0"/>
              </a:spcAft>
            </a:pPr>
            <a:r>
              <a:rPr sz="1050" b="1">
                <a:solidFill>
                  <a:srgbClr val="0989C5"/>
                </a:solidFill>
                <a:latin typeface="Segoe UI"/>
              </a:rPr>
              <a:t>01</a:t>
            </a:r>
          </a:p>
        </p:txBody>
      </p:sp>
      <p:sp>
        <p:nvSpPr>
          <p:cNvPr id="9" name="TextBox 8"/>
          <p:cNvSpPr txBox="1"/>
          <p:nvPr/>
        </p:nvSpPr>
        <p:spPr>
          <a:xfrm>
            <a:off x="5833872" y="2121408"/>
            <a:ext cx="1965960" cy="365760"/>
          </a:xfrm>
          <a:prstGeom prst="rect">
            <a:avLst/>
          </a:prstGeom>
          <a:noFill/>
        </p:spPr>
        <p:txBody>
          <a:bodyPr wrap="square" lIns="0" rIns="0" tIns="0" bIns="0" anchor="t">
            <a:spAutoFit/>
          </a:bodyPr>
          <a:lstStyle/>
          <a:p>
            <a:pPr algn="l">
              <a:spcAft>
                <a:spcPts val="0"/>
              </a:spcAft>
            </a:pPr>
            <a:r>
              <a:rPr sz="1220" b="1">
                <a:solidFill>
                  <a:srgbClr val="67D6CF"/>
                </a:solidFill>
                <a:latin typeface="Segoe UI"/>
              </a:rPr>
              <a:t>COMMUNITY PRESENCE</a:t>
            </a:r>
          </a:p>
        </p:txBody>
      </p:sp>
      <p:sp>
        <p:nvSpPr>
          <p:cNvPr id="10" name="TextBox 9"/>
          <p:cNvSpPr txBox="1"/>
          <p:nvPr/>
        </p:nvSpPr>
        <p:spPr>
          <a:xfrm>
            <a:off x="7918704" y="2112264"/>
            <a:ext cx="3264408" cy="566928"/>
          </a:xfrm>
          <a:prstGeom prst="rect">
            <a:avLst/>
          </a:prstGeom>
          <a:noFill/>
        </p:spPr>
        <p:txBody>
          <a:bodyPr wrap="square" lIns="0" rIns="0" tIns="0" bIns="0" anchor="t">
            <a:spAutoFit/>
          </a:bodyPr>
          <a:lstStyle/>
          <a:p>
            <a:pPr algn="l">
              <a:spcAft>
                <a:spcPts val="0"/>
              </a:spcAft>
            </a:pPr>
            <a:r>
              <a:rPr sz="1350" b="1">
                <a:solidFill>
                  <a:srgbClr val="FFFFFF"/>
                </a:solidFill>
                <a:latin typeface="Segoe UI"/>
              </a:rPr>
              <a:t>Reach communities directly, including places where the journey depends on water.</a:t>
            </a:r>
          </a:p>
        </p:txBody>
      </p:sp>
      <p:sp>
        <p:nvSpPr>
          <p:cNvPr id="11" name="Rounded Rectangle 10"/>
          <p:cNvSpPr/>
          <p:nvPr/>
        </p:nvSpPr>
        <p:spPr>
          <a:xfrm>
            <a:off x="5010912" y="3172968"/>
            <a:ext cx="6492240" cy="987552"/>
          </a:xfrm>
          <a:prstGeom prst="roundRect">
            <a:avLst>
              <a:gd name="adj" fmla="val 8000"/>
            </a:avLst>
          </a:prstGeom>
          <a:solidFill>
            <a:srgbClr val="DCECF2"/>
          </a:solidFill>
          <a:ln w="10160">
            <a:solidFill>
              <a:srgbClr val="CCD8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66944" y="3456432"/>
            <a:ext cx="457200" cy="210312"/>
          </a:xfrm>
          <a:prstGeom prst="rect">
            <a:avLst/>
          </a:prstGeom>
          <a:noFill/>
        </p:spPr>
        <p:txBody>
          <a:bodyPr wrap="square" lIns="0" rIns="0" tIns="0" bIns="0" anchor="t">
            <a:spAutoFit/>
          </a:bodyPr>
          <a:lstStyle/>
          <a:p>
            <a:pPr algn="l">
              <a:spcAft>
                <a:spcPts val="0"/>
              </a:spcAft>
            </a:pPr>
            <a:r>
              <a:rPr sz="1050" b="1">
                <a:solidFill>
                  <a:srgbClr val="1A9C91"/>
                </a:solidFill>
                <a:latin typeface="Segoe UI"/>
              </a:rPr>
              <a:t>02</a:t>
            </a:r>
          </a:p>
        </p:txBody>
      </p:sp>
      <p:sp>
        <p:nvSpPr>
          <p:cNvPr id="13" name="TextBox 12"/>
          <p:cNvSpPr txBox="1"/>
          <p:nvPr/>
        </p:nvSpPr>
        <p:spPr>
          <a:xfrm>
            <a:off x="5833872" y="3346703"/>
            <a:ext cx="1965960" cy="365760"/>
          </a:xfrm>
          <a:prstGeom prst="rect">
            <a:avLst/>
          </a:prstGeom>
          <a:noFill/>
        </p:spPr>
        <p:txBody>
          <a:bodyPr wrap="square" lIns="0" rIns="0" tIns="0" bIns="0" anchor="t">
            <a:spAutoFit/>
          </a:bodyPr>
          <a:lstStyle/>
          <a:p>
            <a:pPr algn="l">
              <a:spcAft>
                <a:spcPts val="0"/>
              </a:spcAft>
            </a:pPr>
            <a:r>
              <a:rPr sz="1220" b="1">
                <a:solidFill>
                  <a:srgbClr val="1A9C91"/>
                </a:solidFill>
                <a:latin typeface="Segoe UI"/>
              </a:rPr>
              <a:t>STRUCTURED EVIDENCE</a:t>
            </a:r>
          </a:p>
        </p:txBody>
      </p:sp>
      <p:sp>
        <p:nvSpPr>
          <p:cNvPr id="14" name="TextBox 13"/>
          <p:cNvSpPr txBox="1"/>
          <p:nvPr/>
        </p:nvSpPr>
        <p:spPr>
          <a:xfrm>
            <a:off x="7918704" y="3337560"/>
            <a:ext cx="3264408" cy="566928"/>
          </a:xfrm>
          <a:prstGeom prst="rect">
            <a:avLst/>
          </a:prstGeom>
          <a:noFill/>
        </p:spPr>
        <p:txBody>
          <a:bodyPr wrap="square" lIns="0" rIns="0" tIns="0" bIns="0" anchor="t">
            <a:spAutoFit/>
          </a:bodyPr>
          <a:lstStyle/>
          <a:p>
            <a:pPr algn="l">
              <a:spcAft>
                <a:spcPts val="0"/>
              </a:spcAft>
            </a:pPr>
            <a:r>
              <a:rPr sz="1350" b="1">
                <a:solidFill>
                  <a:srgbClr val="132A38"/>
                </a:solidFill>
                <a:latin typeface="Segoe UI"/>
              </a:rPr>
              <a:t>Turn local knowledge into a register that can be compared community by community.</a:t>
            </a:r>
          </a:p>
        </p:txBody>
      </p:sp>
      <p:sp>
        <p:nvSpPr>
          <p:cNvPr id="15" name="Rounded Rectangle 14"/>
          <p:cNvSpPr/>
          <p:nvPr/>
        </p:nvSpPr>
        <p:spPr>
          <a:xfrm>
            <a:off x="5010912" y="4398264"/>
            <a:ext cx="6492240" cy="987552"/>
          </a:xfrm>
          <a:prstGeom prst="roundRect">
            <a:avLst>
              <a:gd name="adj" fmla="val 8000"/>
            </a:avLst>
          </a:prstGeom>
          <a:solidFill>
            <a:srgbClr val="DDEFEA"/>
          </a:solidFill>
          <a:ln w="10160">
            <a:solidFill>
              <a:srgbClr val="CCD8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66944" y="4681728"/>
            <a:ext cx="457200" cy="210312"/>
          </a:xfrm>
          <a:prstGeom prst="rect">
            <a:avLst/>
          </a:prstGeom>
          <a:noFill/>
        </p:spPr>
        <p:txBody>
          <a:bodyPr wrap="square" lIns="0" rIns="0" tIns="0" bIns="0" anchor="t">
            <a:spAutoFit/>
          </a:bodyPr>
          <a:lstStyle/>
          <a:p>
            <a:pPr algn="l">
              <a:spcAft>
                <a:spcPts val="0"/>
              </a:spcAft>
            </a:pPr>
            <a:r>
              <a:rPr sz="1050" b="1">
                <a:solidFill>
                  <a:srgbClr val="2D8A67"/>
                </a:solidFill>
                <a:latin typeface="Segoe UI"/>
              </a:rPr>
              <a:t>03</a:t>
            </a:r>
          </a:p>
        </p:txBody>
      </p:sp>
      <p:sp>
        <p:nvSpPr>
          <p:cNvPr id="17" name="TextBox 16"/>
          <p:cNvSpPr txBox="1"/>
          <p:nvPr/>
        </p:nvSpPr>
        <p:spPr>
          <a:xfrm>
            <a:off x="5833872" y="4572000"/>
            <a:ext cx="1965960" cy="365760"/>
          </a:xfrm>
          <a:prstGeom prst="rect">
            <a:avLst/>
          </a:prstGeom>
          <a:noFill/>
        </p:spPr>
        <p:txBody>
          <a:bodyPr wrap="square" lIns="0" rIns="0" tIns="0" bIns="0" anchor="t">
            <a:spAutoFit/>
          </a:bodyPr>
          <a:lstStyle/>
          <a:p>
            <a:pPr algn="l">
              <a:spcAft>
                <a:spcPts val="0"/>
              </a:spcAft>
            </a:pPr>
            <a:r>
              <a:rPr sz="1220" b="1">
                <a:solidFill>
                  <a:srgbClr val="2D8A67"/>
                </a:solidFill>
                <a:latin typeface="Segoe UI"/>
              </a:rPr>
              <a:t>PRACTICAL RESPONSE</a:t>
            </a:r>
          </a:p>
        </p:txBody>
      </p:sp>
      <p:sp>
        <p:nvSpPr>
          <p:cNvPr id="18" name="TextBox 17"/>
          <p:cNvSpPr txBox="1"/>
          <p:nvPr/>
        </p:nvSpPr>
        <p:spPr>
          <a:xfrm>
            <a:off x="7918704" y="4562856"/>
            <a:ext cx="3264408" cy="566928"/>
          </a:xfrm>
          <a:prstGeom prst="rect">
            <a:avLst/>
          </a:prstGeom>
          <a:noFill/>
        </p:spPr>
        <p:txBody>
          <a:bodyPr wrap="square" lIns="0" rIns="0" tIns="0" bIns="0" anchor="t">
            <a:spAutoFit/>
          </a:bodyPr>
          <a:lstStyle/>
          <a:p>
            <a:pPr algn="l">
              <a:spcAft>
                <a:spcPts val="0"/>
              </a:spcAft>
            </a:pPr>
            <a:r>
              <a:rPr sz="1350" b="1">
                <a:solidFill>
                  <a:srgbClr val="132A38"/>
                </a:solidFill>
                <a:latin typeface="Segoe UI"/>
              </a:rPr>
              <a:t>Work with communities and partners on health, water, civic inclusion and planning.</a:t>
            </a:r>
          </a:p>
        </p:txBody>
      </p:sp>
      <p:sp>
        <p:nvSpPr>
          <p:cNvPr id="19" name="Rounded Rectangle 18"/>
          <p:cNvSpPr/>
          <p:nvPr/>
        </p:nvSpPr>
        <p:spPr>
          <a:xfrm>
            <a:off x="5010912" y="5724144"/>
            <a:ext cx="6492240" cy="356616"/>
          </a:xfrm>
          <a:prstGeom prst="roundRect">
            <a:avLst>
              <a:gd name="adj" fmla="val 8000"/>
            </a:avLst>
          </a:prstGeom>
          <a:solidFill>
            <a:srgbClr val="F6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39512" y="5806440"/>
            <a:ext cx="6044184" cy="182880"/>
          </a:xfrm>
          <a:prstGeom prst="rect">
            <a:avLst/>
          </a:prstGeom>
          <a:noFill/>
        </p:spPr>
        <p:txBody>
          <a:bodyPr wrap="square" lIns="0" rIns="0" tIns="0" bIns="0" anchor="t">
            <a:spAutoFit/>
          </a:bodyPr>
          <a:lstStyle/>
          <a:p>
            <a:pPr algn="ctr">
              <a:spcAft>
                <a:spcPts val="0"/>
              </a:spcAft>
            </a:pPr>
            <a:r>
              <a:rPr sz="1150" b="1">
                <a:solidFill>
                  <a:srgbClr val="075D9C"/>
                </a:solidFill>
                <a:latin typeface="Segoe UI"/>
              </a:rPr>
              <a:t>Blue Lagos is the bridge from what communities say to what partners and government can act on.</a:t>
            </a:r>
          </a:p>
        </p:txBody>
      </p:sp>
      <p:sp>
        <p:nvSpPr>
          <p:cNvPr id="21" name="Rectangle 20"/>
          <p:cNvSpPr/>
          <p:nvPr/>
        </p:nvSpPr>
        <p:spPr>
          <a:xfrm>
            <a:off x="658368" y="6510528"/>
            <a:ext cx="10844784" cy="10972"/>
          </a:xfrm>
          <a:prstGeom prst="rect">
            <a:avLst/>
          </a:prstGeom>
          <a:solidFill>
            <a:srgbClr val="CCD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60717B"/>
                </a:solidFill>
                <a:latin typeface="Segoe UI"/>
              </a:rPr>
              <a:t>Blue Lagos field team photograph, reproduced from the Community Baseline Report.</a:t>
            </a:r>
          </a:p>
        </p:txBody>
      </p:sp>
      <p:sp>
        <p:nvSpPr>
          <p:cNvPr id="23" name="TextBox 22"/>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60717B"/>
                </a:solidFill>
                <a:latin typeface="Segoe UI"/>
              </a:rPr>
              <a:t>BLUE LAGOS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C2C"/>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67D6CF"/>
                </a:solidFill>
                <a:latin typeface="Segoe UI"/>
              </a:rPr>
              <a:t>WHAT BLUE LAGOS DID</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FFFFFF"/>
                </a:solidFill>
                <a:latin typeface="Segoe UI Semibold"/>
              </a:rPr>
              <a:t>We started by going community by community.</a:t>
            </a:r>
          </a:p>
        </p:txBody>
      </p:sp>
      <p:sp>
        <p:nvSpPr>
          <p:cNvPr id="4" name="TextBox 3"/>
          <p:cNvSpPr txBox="1"/>
          <p:nvPr/>
        </p:nvSpPr>
        <p:spPr>
          <a:xfrm>
            <a:off x="676656" y="1408176"/>
            <a:ext cx="10469880" cy="438912"/>
          </a:xfrm>
          <a:prstGeom prst="rect">
            <a:avLst/>
          </a:prstGeom>
          <a:noFill/>
        </p:spPr>
        <p:txBody>
          <a:bodyPr wrap="square" lIns="0" rIns="0" tIns="0" bIns="0" anchor="t">
            <a:spAutoFit/>
          </a:bodyPr>
          <a:lstStyle/>
          <a:p>
            <a:pPr algn="l">
              <a:spcAft>
                <a:spcPts val="0"/>
              </a:spcAft>
            </a:pPr>
            <a:r>
              <a:rPr sz="1450" b="0">
                <a:solidFill>
                  <a:srgbClr val="BFD1D9"/>
                </a:solidFill>
                <a:latin typeface="Segoe UI"/>
              </a:rPr>
              <a:t>Actual community-level evidence now supports a clearer view of riverine Lagos.</a:t>
            </a:r>
          </a:p>
        </p:txBody>
      </p:sp>
      <p:sp>
        <p:nvSpPr>
          <p:cNvPr id="5" name="TextBox 4"/>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BFD1D9"/>
                </a:solidFill>
                <a:latin typeface="Segoe UI"/>
              </a:rPr>
              <a:t>04</a:t>
            </a:r>
          </a:p>
        </p:txBody>
      </p:sp>
      <p:pic>
        <p:nvPicPr>
          <p:cNvPr id="6" name="Picture 5" descr="coverage_map.png"/>
          <p:cNvPicPr>
            <a:picLocks noChangeAspect="1"/>
          </p:cNvPicPr>
          <p:nvPr/>
        </p:nvPicPr>
        <p:blipFill>
          <a:blip r:embed="rId2"/>
          <a:stretch>
            <a:fillRect/>
          </a:stretch>
        </p:blipFill>
        <p:spPr>
          <a:xfrm>
            <a:off x="658368" y="1856231"/>
            <a:ext cx="6702552" cy="3730752"/>
          </a:xfrm>
          <a:prstGeom prst="rect">
            <a:avLst/>
          </a:prstGeom>
        </p:spPr>
      </p:pic>
      <p:sp>
        <p:nvSpPr>
          <p:cNvPr id="7" name="Rounded Rectangle 6"/>
          <p:cNvSpPr/>
          <p:nvPr/>
        </p:nvSpPr>
        <p:spPr>
          <a:xfrm>
            <a:off x="7607808" y="1856231"/>
            <a:ext cx="1828800" cy="1344168"/>
          </a:xfrm>
          <a:prstGeom prst="roundRect">
            <a:avLst>
              <a:gd name="adj" fmla="val 8000"/>
            </a:avLst>
          </a:prstGeom>
          <a:solidFill>
            <a:srgbClr val="0D2D42"/>
          </a:solidFill>
          <a:ln w="10160">
            <a:solidFill>
              <a:srgbClr val="2749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08976" y="2020824"/>
            <a:ext cx="1426464" cy="502920"/>
          </a:xfrm>
          <a:prstGeom prst="rect">
            <a:avLst/>
          </a:prstGeom>
          <a:noFill/>
        </p:spPr>
        <p:txBody>
          <a:bodyPr wrap="square" lIns="0" rIns="0" tIns="0" bIns="0" anchor="t">
            <a:spAutoFit/>
          </a:bodyPr>
          <a:lstStyle/>
          <a:p>
            <a:pPr algn="l">
              <a:spcAft>
                <a:spcPts val="0"/>
              </a:spcAft>
            </a:pPr>
            <a:r>
              <a:rPr sz="2800" b="1">
                <a:solidFill>
                  <a:srgbClr val="67D6CF"/>
                </a:solidFill>
                <a:latin typeface="Segoe UI Semibold"/>
              </a:rPr>
              <a:t>134</a:t>
            </a:r>
          </a:p>
        </p:txBody>
      </p:sp>
      <p:sp>
        <p:nvSpPr>
          <p:cNvPr id="9" name="TextBox 8"/>
          <p:cNvSpPr txBox="1"/>
          <p:nvPr/>
        </p:nvSpPr>
        <p:spPr>
          <a:xfrm>
            <a:off x="7808976" y="2569463"/>
            <a:ext cx="1426464" cy="329184"/>
          </a:xfrm>
          <a:prstGeom prst="rect">
            <a:avLst/>
          </a:prstGeom>
          <a:noFill/>
        </p:spPr>
        <p:txBody>
          <a:bodyPr wrap="square" lIns="0" rIns="0" tIns="0" bIns="0" anchor="t">
            <a:spAutoFit/>
          </a:bodyPr>
          <a:lstStyle/>
          <a:p>
            <a:pPr algn="l">
              <a:spcAft>
                <a:spcPts val="0"/>
              </a:spcAft>
            </a:pPr>
            <a:r>
              <a:rPr sz="1250" b="1">
                <a:solidFill>
                  <a:srgbClr val="FFFFFF"/>
                </a:solidFill>
                <a:latin typeface="Segoe UI"/>
              </a:rPr>
              <a:t>communities enumerated</a:t>
            </a:r>
          </a:p>
        </p:txBody>
      </p:sp>
      <p:sp>
        <p:nvSpPr>
          <p:cNvPr id="10" name="Rounded Rectangle 9"/>
          <p:cNvSpPr/>
          <p:nvPr/>
        </p:nvSpPr>
        <p:spPr>
          <a:xfrm>
            <a:off x="9656064" y="1856231"/>
            <a:ext cx="1847088" cy="1344168"/>
          </a:xfrm>
          <a:prstGeom prst="roundRect">
            <a:avLst>
              <a:gd name="adj" fmla="val 8000"/>
            </a:avLst>
          </a:prstGeom>
          <a:solidFill>
            <a:srgbClr val="0D2D42"/>
          </a:solidFill>
          <a:ln w="10160">
            <a:solidFill>
              <a:srgbClr val="2749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57232" y="2020824"/>
            <a:ext cx="1444752" cy="502920"/>
          </a:xfrm>
          <a:prstGeom prst="rect">
            <a:avLst/>
          </a:prstGeom>
          <a:noFill/>
        </p:spPr>
        <p:txBody>
          <a:bodyPr wrap="square" lIns="0" rIns="0" tIns="0" bIns="0" anchor="t">
            <a:spAutoFit/>
          </a:bodyPr>
          <a:lstStyle/>
          <a:p>
            <a:pPr algn="l">
              <a:spcAft>
                <a:spcPts val="0"/>
              </a:spcAft>
            </a:pPr>
            <a:r>
              <a:rPr sz="2800" b="1">
                <a:solidFill>
                  <a:srgbClr val="67D6CF"/>
                </a:solidFill>
                <a:latin typeface="Segoe UI Semibold"/>
              </a:rPr>
              <a:t>502,002</a:t>
            </a:r>
          </a:p>
        </p:txBody>
      </p:sp>
      <p:sp>
        <p:nvSpPr>
          <p:cNvPr id="12" name="TextBox 11"/>
          <p:cNvSpPr txBox="1"/>
          <p:nvPr/>
        </p:nvSpPr>
        <p:spPr>
          <a:xfrm>
            <a:off x="9857232" y="2569463"/>
            <a:ext cx="1444752" cy="329184"/>
          </a:xfrm>
          <a:prstGeom prst="rect">
            <a:avLst/>
          </a:prstGeom>
          <a:noFill/>
        </p:spPr>
        <p:txBody>
          <a:bodyPr wrap="square" lIns="0" rIns="0" tIns="0" bIns="0" anchor="t">
            <a:spAutoFit/>
          </a:bodyPr>
          <a:lstStyle/>
          <a:p>
            <a:pPr algn="l">
              <a:spcAft>
                <a:spcPts val="0"/>
              </a:spcAft>
            </a:pPr>
            <a:r>
              <a:rPr sz="1250" b="1">
                <a:solidFill>
                  <a:srgbClr val="FFFFFF"/>
                </a:solidFill>
                <a:latin typeface="Segoe UI"/>
              </a:rPr>
              <a:t>people represented</a:t>
            </a:r>
          </a:p>
        </p:txBody>
      </p:sp>
      <p:sp>
        <p:nvSpPr>
          <p:cNvPr id="13" name="Rounded Rectangle 12"/>
          <p:cNvSpPr/>
          <p:nvPr/>
        </p:nvSpPr>
        <p:spPr>
          <a:xfrm>
            <a:off x="7607808" y="3419856"/>
            <a:ext cx="3895344" cy="1280160"/>
          </a:xfrm>
          <a:prstGeom prst="roundRect">
            <a:avLst>
              <a:gd name="adj" fmla="val 8000"/>
            </a:avLst>
          </a:prstGeom>
          <a:solidFill>
            <a:srgbClr val="0D2D42"/>
          </a:solidFill>
          <a:ln w="10160">
            <a:solidFill>
              <a:srgbClr val="2749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08976" y="3584448"/>
            <a:ext cx="3493008" cy="502920"/>
          </a:xfrm>
          <a:prstGeom prst="rect">
            <a:avLst/>
          </a:prstGeom>
          <a:noFill/>
        </p:spPr>
        <p:txBody>
          <a:bodyPr wrap="square" lIns="0" rIns="0" tIns="0" bIns="0" anchor="t">
            <a:spAutoFit/>
          </a:bodyPr>
          <a:lstStyle/>
          <a:p>
            <a:pPr algn="l">
              <a:spcAft>
                <a:spcPts val="0"/>
              </a:spcAft>
            </a:pPr>
            <a:r>
              <a:rPr sz="2800" b="1">
                <a:solidFill>
                  <a:srgbClr val="67D6CF"/>
                </a:solidFill>
                <a:latin typeface="Segoe UI Semibold"/>
              </a:rPr>
              <a:t>18</a:t>
            </a:r>
          </a:p>
        </p:txBody>
      </p:sp>
      <p:sp>
        <p:nvSpPr>
          <p:cNvPr id="15" name="TextBox 14"/>
          <p:cNvSpPr txBox="1"/>
          <p:nvPr/>
        </p:nvSpPr>
        <p:spPr>
          <a:xfrm>
            <a:off x="7808976" y="4133088"/>
            <a:ext cx="3493008" cy="329184"/>
          </a:xfrm>
          <a:prstGeom prst="rect">
            <a:avLst/>
          </a:prstGeom>
          <a:noFill/>
        </p:spPr>
        <p:txBody>
          <a:bodyPr wrap="square" lIns="0" rIns="0" tIns="0" bIns="0" anchor="t">
            <a:spAutoFit/>
          </a:bodyPr>
          <a:lstStyle/>
          <a:p>
            <a:pPr algn="l">
              <a:spcAft>
                <a:spcPts val="0"/>
              </a:spcAft>
            </a:pPr>
            <a:r>
              <a:rPr sz="1250" b="1">
                <a:solidFill>
                  <a:srgbClr val="FFFFFF"/>
                </a:solidFill>
                <a:latin typeface="Segoe UI"/>
              </a:rPr>
              <a:t>communities physically visited</a:t>
            </a:r>
          </a:p>
        </p:txBody>
      </p:sp>
      <p:sp>
        <p:nvSpPr>
          <p:cNvPr id="16" name="TextBox 15"/>
          <p:cNvSpPr txBox="1"/>
          <p:nvPr/>
        </p:nvSpPr>
        <p:spPr>
          <a:xfrm>
            <a:off x="7808976" y="4489704"/>
            <a:ext cx="3493008" cy="82295"/>
          </a:xfrm>
          <a:prstGeom prst="rect">
            <a:avLst/>
          </a:prstGeom>
          <a:noFill/>
        </p:spPr>
        <p:txBody>
          <a:bodyPr wrap="square" lIns="0" rIns="0" tIns="0" bIns="0" anchor="t">
            <a:spAutoFit/>
          </a:bodyPr>
          <a:lstStyle/>
          <a:p>
            <a:pPr algn="l">
              <a:spcAft>
                <a:spcPts val="0"/>
              </a:spcAft>
            </a:pPr>
            <a:r>
              <a:rPr sz="1050" b="0">
                <a:solidFill>
                  <a:srgbClr val="BFD1D9"/>
                </a:solidFill>
                <a:latin typeface="Segoe UI"/>
              </a:rPr>
              <a:t>Up to 18 across participating LGAs</a:t>
            </a:r>
          </a:p>
        </p:txBody>
      </p:sp>
      <p:sp>
        <p:nvSpPr>
          <p:cNvPr id="17" name="TextBox 16"/>
          <p:cNvSpPr txBox="1"/>
          <p:nvPr/>
        </p:nvSpPr>
        <p:spPr>
          <a:xfrm>
            <a:off x="7626096" y="5038344"/>
            <a:ext cx="3822191" cy="685800"/>
          </a:xfrm>
          <a:prstGeom prst="rect">
            <a:avLst/>
          </a:prstGeom>
          <a:noFill/>
        </p:spPr>
        <p:txBody>
          <a:bodyPr wrap="square" lIns="0" rIns="0" tIns="0" bIns="0" anchor="t">
            <a:spAutoFit/>
          </a:bodyPr>
          <a:lstStyle/>
          <a:p>
            <a:pPr algn="l">
              <a:spcAft>
                <a:spcPts val="0"/>
              </a:spcAft>
            </a:pPr>
            <a:r>
              <a:rPr sz="1130" b="1">
                <a:solidFill>
                  <a:srgbClr val="FFFFFF"/>
                </a:solidFill>
                <a:latin typeface="Segoe UI"/>
              </a:rPr>
              <a:t>Population  •  Health  •  Water + sanitation  •  Access  •  Infrastructure  •  Livelihoods  •  Flood + erosion  •  Community priorities</a:t>
            </a:r>
          </a:p>
        </p:txBody>
      </p:sp>
      <p:sp>
        <p:nvSpPr>
          <p:cNvPr id="18" name="Rounded Rectangle 17"/>
          <p:cNvSpPr/>
          <p:nvPr/>
        </p:nvSpPr>
        <p:spPr>
          <a:xfrm>
            <a:off x="868680" y="5797296"/>
            <a:ext cx="2103120" cy="320040"/>
          </a:xfrm>
          <a:prstGeom prst="roundRect">
            <a:avLst>
              <a:gd name="adj" fmla="val 8000"/>
            </a:avLst>
          </a:prstGeom>
          <a:solidFill>
            <a:srgbClr val="123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5861304"/>
            <a:ext cx="1901951" cy="164592"/>
          </a:xfrm>
          <a:prstGeom prst="rect">
            <a:avLst/>
          </a:prstGeom>
          <a:noFill/>
        </p:spPr>
        <p:txBody>
          <a:bodyPr wrap="square" lIns="0" rIns="0" tIns="0" bIns="0" anchor="t">
            <a:spAutoFit/>
          </a:bodyPr>
          <a:lstStyle/>
          <a:p>
            <a:pPr algn="ctr">
              <a:spcAft>
                <a:spcPts val="0"/>
              </a:spcAft>
            </a:pPr>
            <a:r>
              <a:rPr sz="950" b="1">
                <a:solidFill>
                  <a:srgbClr val="67D6CF"/>
                </a:solidFill>
                <a:latin typeface="Segoe UI"/>
              </a:rPr>
              <a:t>93 currently geolocated</a:t>
            </a:r>
          </a:p>
        </p:txBody>
      </p:sp>
      <p:sp>
        <p:nvSpPr>
          <p:cNvPr id="20" name="Rounded Rectangle 19"/>
          <p:cNvSpPr/>
          <p:nvPr/>
        </p:nvSpPr>
        <p:spPr>
          <a:xfrm>
            <a:off x="3099816" y="5797296"/>
            <a:ext cx="1856231" cy="320040"/>
          </a:xfrm>
          <a:prstGeom prst="roundRect">
            <a:avLst>
              <a:gd name="adj" fmla="val 8000"/>
            </a:avLst>
          </a:prstGeom>
          <a:solidFill>
            <a:srgbClr val="123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0" y="5861304"/>
            <a:ext cx="1655063" cy="164592"/>
          </a:xfrm>
          <a:prstGeom prst="rect">
            <a:avLst/>
          </a:prstGeom>
          <a:noFill/>
        </p:spPr>
        <p:txBody>
          <a:bodyPr wrap="square" lIns="0" rIns="0" tIns="0" bIns="0" anchor="t">
            <a:spAutoFit/>
          </a:bodyPr>
          <a:lstStyle/>
          <a:p>
            <a:pPr algn="ctr">
              <a:spcAft>
                <a:spcPts val="0"/>
              </a:spcAft>
            </a:pPr>
            <a:r>
              <a:rPr sz="950" b="1">
                <a:solidFill>
                  <a:srgbClr val="67D6CF"/>
                </a:solidFill>
                <a:latin typeface="Segoe UI"/>
              </a:rPr>
              <a:t>7 LGAs in the register</a:t>
            </a:r>
          </a:p>
        </p:txBody>
      </p:sp>
      <p:sp>
        <p:nvSpPr>
          <p:cNvPr id="22" name="Rectangle 21"/>
          <p:cNvSpPr/>
          <p:nvPr/>
        </p:nvSpPr>
        <p:spPr>
          <a:xfrm>
            <a:off x="658368" y="6510528"/>
            <a:ext cx="10844784" cy="10972"/>
          </a:xfrm>
          <a:prstGeom prst="rect">
            <a:avLst/>
          </a:prstGeom>
          <a:solidFill>
            <a:srgbClr val="315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BFD1D9"/>
                </a:solidFill>
                <a:latin typeface="Segoe UI"/>
              </a:rPr>
              <a:t>Sources: Blue Lagos field register; GRID3 2022 boundaries via geoBoundaries; OSM waterways.</a:t>
            </a:r>
          </a:p>
        </p:txBody>
      </p:sp>
      <p:sp>
        <p:nvSpPr>
          <p:cNvPr id="24" name="TextBox 23"/>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BFD1D9"/>
                </a:solidFill>
                <a:latin typeface="Segoe UI"/>
              </a:rPr>
              <a:t>BLUE LAGOS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WHAT THE DATA IS TELLING US</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132A38"/>
                </a:solidFill>
                <a:latin typeface="Segoe UI Semibold"/>
              </a:rPr>
              <a:t>The communities are different, but the same problems keep appearing.</a:t>
            </a:r>
          </a:p>
        </p:txBody>
      </p:sp>
      <p:sp>
        <p:nvSpPr>
          <p:cNvPr id="4" name="TextBox 3"/>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60717B"/>
                </a:solidFill>
                <a:latin typeface="Segoe UI"/>
              </a:rPr>
              <a:t>05</a:t>
            </a:r>
          </a:p>
        </p:txBody>
      </p:sp>
      <p:sp>
        <p:nvSpPr>
          <p:cNvPr id="5" name="Rounded Rectangle 4"/>
          <p:cNvSpPr/>
          <p:nvPr/>
        </p:nvSpPr>
        <p:spPr>
          <a:xfrm>
            <a:off x="658368" y="2002536"/>
            <a:ext cx="1965960" cy="3337560"/>
          </a:xfrm>
          <a:prstGeom prst="roundRect">
            <a:avLst>
              <a:gd name="adj" fmla="val 8000"/>
            </a:avLst>
          </a:prstGeom>
          <a:solidFill>
            <a:srgbClr val="FFFFFF"/>
          </a:solidFill>
          <a:ln w="10160">
            <a:solidFill>
              <a:srgbClr val="CCD8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258568"/>
            <a:ext cx="1645920" cy="182880"/>
          </a:xfrm>
          <a:prstGeom prst="rect">
            <a:avLst/>
          </a:prstGeom>
          <a:noFill/>
        </p:spPr>
        <p:txBody>
          <a:bodyPr wrap="square" lIns="0" rIns="0" tIns="0" bIns="0" anchor="t">
            <a:spAutoFit/>
          </a:bodyPr>
          <a:lstStyle/>
          <a:p>
            <a:pPr algn="l">
              <a:spcAft>
                <a:spcPts val="0"/>
              </a:spcAft>
            </a:pPr>
            <a:r>
              <a:rPr sz="880" b="1">
                <a:solidFill>
                  <a:srgbClr val="D65C55"/>
                </a:solidFill>
                <a:latin typeface="Segoe UI"/>
              </a:rPr>
              <a:t>HEALTH + WATER</a:t>
            </a:r>
          </a:p>
        </p:txBody>
      </p:sp>
      <p:sp>
        <p:nvSpPr>
          <p:cNvPr id="7" name="TextBox 6"/>
          <p:cNvSpPr txBox="1"/>
          <p:nvPr/>
        </p:nvSpPr>
        <p:spPr>
          <a:xfrm>
            <a:off x="822959" y="2697480"/>
            <a:ext cx="1645920" cy="603504"/>
          </a:xfrm>
          <a:prstGeom prst="rect">
            <a:avLst/>
          </a:prstGeom>
          <a:noFill/>
        </p:spPr>
        <p:txBody>
          <a:bodyPr wrap="square" lIns="0" rIns="0" tIns="0" bIns="0" anchor="t">
            <a:spAutoFit/>
          </a:bodyPr>
          <a:lstStyle/>
          <a:p>
            <a:pPr algn="l">
              <a:spcAft>
                <a:spcPts val="0"/>
              </a:spcAft>
            </a:pPr>
            <a:r>
              <a:rPr sz="2700" b="1">
                <a:solidFill>
                  <a:srgbClr val="D65C55"/>
                </a:solidFill>
                <a:latin typeface="Segoe UI Semibold"/>
              </a:rPr>
              <a:t>83.6%</a:t>
            </a:r>
          </a:p>
        </p:txBody>
      </p:sp>
      <p:sp>
        <p:nvSpPr>
          <p:cNvPr id="8" name="TextBox 7"/>
          <p:cNvSpPr txBox="1"/>
          <p:nvPr/>
        </p:nvSpPr>
        <p:spPr>
          <a:xfrm>
            <a:off x="822959" y="3438144"/>
            <a:ext cx="1645920" cy="877824"/>
          </a:xfrm>
          <a:prstGeom prst="rect">
            <a:avLst/>
          </a:prstGeom>
          <a:noFill/>
        </p:spPr>
        <p:txBody>
          <a:bodyPr wrap="square" lIns="0" rIns="0" tIns="0" bIns="0" anchor="t">
            <a:spAutoFit/>
          </a:bodyPr>
          <a:lstStyle/>
          <a:p>
            <a:pPr algn="l">
              <a:spcAft>
                <a:spcPts val="0"/>
              </a:spcAft>
            </a:pPr>
            <a:r>
              <a:rPr sz="1320" b="1">
                <a:solidFill>
                  <a:srgbClr val="132A38"/>
                </a:solidFill>
                <a:latin typeface="Segoe UI"/>
              </a:rPr>
              <a:t>No formal first-aid point</a:t>
            </a:r>
          </a:p>
        </p:txBody>
      </p:sp>
      <p:sp>
        <p:nvSpPr>
          <p:cNvPr id="9" name="Rounded Rectangle 8"/>
          <p:cNvSpPr/>
          <p:nvPr/>
        </p:nvSpPr>
        <p:spPr>
          <a:xfrm>
            <a:off x="822959" y="4681728"/>
            <a:ext cx="1636776" cy="109728"/>
          </a:xfrm>
          <a:prstGeom prst="roundRect">
            <a:avLst>
              <a:gd name="adj" fmla="val 8000"/>
            </a:avLst>
          </a:prstGeom>
          <a:solidFill>
            <a:srgbClr val="E2E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59" y="4681728"/>
            <a:ext cx="1368344" cy="109728"/>
          </a:xfrm>
          <a:prstGeom prst="roundRect">
            <a:avLst>
              <a:gd name="adj" fmla="val 8000"/>
            </a:avLst>
          </a:prstGeom>
          <a:solidFill>
            <a:srgbClr val="D65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52928" y="2002536"/>
            <a:ext cx="1965960" cy="3337560"/>
          </a:xfrm>
          <a:prstGeom prst="roundRect">
            <a:avLst>
              <a:gd name="adj" fmla="val 8000"/>
            </a:avLst>
          </a:prstGeom>
          <a:solidFill>
            <a:srgbClr val="FFFFFF"/>
          </a:solidFill>
          <a:ln w="10160">
            <a:solidFill>
              <a:srgbClr val="CCD8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2258568"/>
            <a:ext cx="1645920" cy="182880"/>
          </a:xfrm>
          <a:prstGeom prst="rect">
            <a:avLst/>
          </a:prstGeom>
          <a:noFill/>
        </p:spPr>
        <p:txBody>
          <a:bodyPr wrap="square" lIns="0" rIns="0" tIns="0" bIns="0" anchor="t">
            <a:spAutoFit/>
          </a:bodyPr>
          <a:lstStyle/>
          <a:p>
            <a:pPr algn="l">
              <a:spcAft>
                <a:spcPts val="0"/>
              </a:spcAft>
            </a:pPr>
            <a:r>
              <a:rPr sz="880" b="1">
                <a:solidFill>
                  <a:srgbClr val="0989C5"/>
                </a:solidFill>
                <a:latin typeface="Segoe UI"/>
              </a:rPr>
              <a:t>ACCESS</a:t>
            </a:r>
          </a:p>
        </p:txBody>
      </p:sp>
      <p:sp>
        <p:nvSpPr>
          <p:cNvPr id="13" name="TextBox 12"/>
          <p:cNvSpPr txBox="1"/>
          <p:nvPr/>
        </p:nvSpPr>
        <p:spPr>
          <a:xfrm>
            <a:off x="3017520" y="2697480"/>
            <a:ext cx="1645920" cy="603504"/>
          </a:xfrm>
          <a:prstGeom prst="rect">
            <a:avLst/>
          </a:prstGeom>
          <a:noFill/>
        </p:spPr>
        <p:txBody>
          <a:bodyPr wrap="square" lIns="0" rIns="0" tIns="0" bIns="0" anchor="t">
            <a:spAutoFit/>
          </a:bodyPr>
          <a:lstStyle/>
          <a:p>
            <a:pPr algn="l">
              <a:spcAft>
                <a:spcPts val="0"/>
              </a:spcAft>
            </a:pPr>
            <a:r>
              <a:rPr sz="2700" b="1">
                <a:solidFill>
                  <a:srgbClr val="0989C5"/>
                </a:solidFill>
                <a:latin typeface="Segoe UI Semibold"/>
              </a:rPr>
              <a:t>80.6%</a:t>
            </a:r>
          </a:p>
        </p:txBody>
      </p:sp>
      <p:sp>
        <p:nvSpPr>
          <p:cNvPr id="14" name="TextBox 13"/>
          <p:cNvSpPr txBox="1"/>
          <p:nvPr/>
        </p:nvSpPr>
        <p:spPr>
          <a:xfrm>
            <a:off x="3017520" y="3438144"/>
            <a:ext cx="1645920" cy="877824"/>
          </a:xfrm>
          <a:prstGeom prst="rect">
            <a:avLst/>
          </a:prstGeom>
          <a:noFill/>
        </p:spPr>
        <p:txBody>
          <a:bodyPr wrap="square" lIns="0" rIns="0" tIns="0" bIns="0" anchor="t">
            <a:spAutoFit/>
          </a:bodyPr>
          <a:lstStyle/>
          <a:p>
            <a:pPr algn="l">
              <a:spcAft>
                <a:spcPts val="0"/>
              </a:spcAft>
            </a:pPr>
            <a:r>
              <a:rPr sz="1320" b="1">
                <a:solidFill>
                  <a:srgbClr val="132A38"/>
                </a:solidFill>
                <a:latin typeface="Segoe UI"/>
              </a:rPr>
              <a:t>Unmotorised boat or no medical evacuation</a:t>
            </a:r>
          </a:p>
        </p:txBody>
      </p:sp>
      <p:sp>
        <p:nvSpPr>
          <p:cNvPr id="15" name="Rounded Rectangle 14"/>
          <p:cNvSpPr/>
          <p:nvPr/>
        </p:nvSpPr>
        <p:spPr>
          <a:xfrm>
            <a:off x="3017520" y="4681728"/>
            <a:ext cx="1636776" cy="109728"/>
          </a:xfrm>
          <a:prstGeom prst="roundRect">
            <a:avLst>
              <a:gd name="adj" fmla="val 8000"/>
            </a:avLst>
          </a:prstGeom>
          <a:solidFill>
            <a:srgbClr val="E2E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17520" y="4681728"/>
            <a:ext cx="1319241" cy="109728"/>
          </a:xfrm>
          <a:prstGeom prst="roundRect">
            <a:avLst>
              <a:gd name="adj" fmla="val 8000"/>
            </a:avLst>
          </a:prstGeom>
          <a:solidFill>
            <a:srgbClr val="0989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47488" y="2002536"/>
            <a:ext cx="1965960" cy="3337560"/>
          </a:xfrm>
          <a:prstGeom prst="roundRect">
            <a:avLst>
              <a:gd name="adj" fmla="val 8000"/>
            </a:avLst>
          </a:prstGeom>
          <a:solidFill>
            <a:srgbClr val="FFFFFF"/>
          </a:solidFill>
          <a:ln w="10160">
            <a:solidFill>
              <a:srgbClr val="CCD8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79" y="2258568"/>
            <a:ext cx="1645920" cy="182880"/>
          </a:xfrm>
          <a:prstGeom prst="rect">
            <a:avLst/>
          </a:prstGeom>
          <a:noFill/>
        </p:spPr>
        <p:txBody>
          <a:bodyPr wrap="square" lIns="0" rIns="0" tIns="0" bIns="0" anchor="t">
            <a:spAutoFit/>
          </a:bodyPr>
          <a:lstStyle/>
          <a:p>
            <a:pPr algn="l">
              <a:spcAft>
                <a:spcPts val="0"/>
              </a:spcAft>
            </a:pPr>
            <a:r>
              <a:rPr sz="880" b="1">
                <a:solidFill>
                  <a:srgbClr val="D65C55"/>
                </a:solidFill>
                <a:latin typeface="Segoe UI"/>
              </a:rPr>
              <a:t>ENVIRONMENT</a:t>
            </a:r>
          </a:p>
        </p:txBody>
      </p:sp>
      <p:sp>
        <p:nvSpPr>
          <p:cNvPr id="19" name="TextBox 18"/>
          <p:cNvSpPr txBox="1"/>
          <p:nvPr/>
        </p:nvSpPr>
        <p:spPr>
          <a:xfrm>
            <a:off x="5212079" y="2697480"/>
            <a:ext cx="1645920" cy="603504"/>
          </a:xfrm>
          <a:prstGeom prst="rect">
            <a:avLst/>
          </a:prstGeom>
          <a:noFill/>
        </p:spPr>
        <p:txBody>
          <a:bodyPr wrap="square" lIns="0" rIns="0" tIns="0" bIns="0" anchor="t">
            <a:spAutoFit/>
          </a:bodyPr>
          <a:lstStyle/>
          <a:p>
            <a:pPr algn="l">
              <a:spcAft>
                <a:spcPts val="0"/>
              </a:spcAft>
            </a:pPr>
            <a:r>
              <a:rPr sz="2700" b="1">
                <a:solidFill>
                  <a:srgbClr val="D65C55"/>
                </a:solidFill>
                <a:latin typeface="Segoe UI Semibold"/>
              </a:rPr>
              <a:t>22.4%</a:t>
            </a:r>
          </a:p>
        </p:txBody>
      </p:sp>
      <p:sp>
        <p:nvSpPr>
          <p:cNvPr id="20" name="TextBox 19"/>
          <p:cNvSpPr txBox="1"/>
          <p:nvPr/>
        </p:nvSpPr>
        <p:spPr>
          <a:xfrm>
            <a:off x="5212079" y="3438144"/>
            <a:ext cx="1645920" cy="877824"/>
          </a:xfrm>
          <a:prstGeom prst="rect">
            <a:avLst/>
          </a:prstGeom>
          <a:noFill/>
        </p:spPr>
        <p:txBody>
          <a:bodyPr wrap="square" lIns="0" rIns="0" tIns="0" bIns="0" anchor="t">
            <a:spAutoFit/>
          </a:bodyPr>
          <a:lstStyle/>
          <a:p>
            <a:pPr algn="l">
              <a:spcAft>
                <a:spcPts val="0"/>
              </a:spcAft>
            </a:pPr>
            <a:r>
              <a:rPr sz="1320" b="1">
                <a:solidFill>
                  <a:srgbClr val="132A38"/>
                </a:solidFill>
                <a:latin typeface="Segoe UI"/>
              </a:rPr>
              <a:t>Reported loss of land or housing to erosion</a:t>
            </a:r>
          </a:p>
        </p:txBody>
      </p:sp>
      <p:sp>
        <p:nvSpPr>
          <p:cNvPr id="21" name="Rounded Rectangle 20"/>
          <p:cNvSpPr/>
          <p:nvPr/>
        </p:nvSpPr>
        <p:spPr>
          <a:xfrm>
            <a:off x="5212079" y="4681728"/>
            <a:ext cx="1636776" cy="109728"/>
          </a:xfrm>
          <a:prstGeom prst="roundRect">
            <a:avLst>
              <a:gd name="adj" fmla="val 8000"/>
            </a:avLst>
          </a:prstGeom>
          <a:solidFill>
            <a:srgbClr val="E2E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12079" y="4681728"/>
            <a:ext cx="366637" cy="109728"/>
          </a:xfrm>
          <a:prstGeom prst="roundRect">
            <a:avLst>
              <a:gd name="adj" fmla="val 8000"/>
            </a:avLst>
          </a:prstGeom>
          <a:solidFill>
            <a:srgbClr val="D65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42047" y="2002536"/>
            <a:ext cx="1965960" cy="3337560"/>
          </a:xfrm>
          <a:prstGeom prst="roundRect">
            <a:avLst>
              <a:gd name="adj" fmla="val 8000"/>
            </a:avLst>
          </a:prstGeom>
          <a:solidFill>
            <a:srgbClr val="FFFFFF"/>
          </a:solidFill>
          <a:ln w="10160">
            <a:solidFill>
              <a:srgbClr val="CCD8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2258568"/>
            <a:ext cx="1645920" cy="182880"/>
          </a:xfrm>
          <a:prstGeom prst="rect">
            <a:avLst/>
          </a:prstGeom>
          <a:noFill/>
        </p:spPr>
        <p:txBody>
          <a:bodyPr wrap="square" lIns="0" rIns="0" tIns="0" bIns="0" anchor="t">
            <a:spAutoFit/>
          </a:bodyPr>
          <a:lstStyle/>
          <a:p>
            <a:pPr algn="l">
              <a:spcAft>
                <a:spcPts val="0"/>
              </a:spcAft>
            </a:pPr>
            <a:r>
              <a:rPr sz="880" b="1">
                <a:solidFill>
                  <a:srgbClr val="1A9C91"/>
                </a:solidFill>
                <a:latin typeface="Segoe UI"/>
              </a:rPr>
              <a:t>INFRASTRUCTURE</a:t>
            </a:r>
          </a:p>
        </p:txBody>
      </p:sp>
      <p:sp>
        <p:nvSpPr>
          <p:cNvPr id="25" name="TextBox 24"/>
          <p:cNvSpPr txBox="1"/>
          <p:nvPr/>
        </p:nvSpPr>
        <p:spPr>
          <a:xfrm>
            <a:off x="7406640" y="2697480"/>
            <a:ext cx="1645920" cy="603504"/>
          </a:xfrm>
          <a:prstGeom prst="rect">
            <a:avLst/>
          </a:prstGeom>
          <a:noFill/>
        </p:spPr>
        <p:txBody>
          <a:bodyPr wrap="square" lIns="0" rIns="0" tIns="0" bIns="0" anchor="t">
            <a:spAutoFit/>
          </a:bodyPr>
          <a:lstStyle/>
          <a:p>
            <a:pPr algn="l">
              <a:spcAft>
                <a:spcPts val="0"/>
              </a:spcAft>
            </a:pPr>
            <a:r>
              <a:rPr sz="2700" b="1">
                <a:solidFill>
                  <a:srgbClr val="1A9C91"/>
                </a:solidFill>
                <a:latin typeface="Segoe UI Semibold"/>
              </a:rPr>
              <a:t>93.1%</a:t>
            </a:r>
          </a:p>
        </p:txBody>
      </p:sp>
      <p:sp>
        <p:nvSpPr>
          <p:cNvPr id="26" name="TextBox 25"/>
          <p:cNvSpPr txBox="1"/>
          <p:nvPr/>
        </p:nvSpPr>
        <p:spPr>
          <a:xfrm>
            <a:off x="7406640" y="3438144"/>
            <a:ext cx="1645920" cy="877824"/>
          </a:xfrm>
          <a:prstGeom prst="rect">
            <a:avLst/>
          </a:prstGeom>
          <a:noFill/>
        </p:spPr>
        <p:txBody>
          <a:bodyPr wrap="square" lIns="0" rIns="0" tIns="0" bIns="0" anchor="t">
            <a:spAutoFit/>
          </a:bodyPr>
          <a:lstStyle/>
          <a:p>
            <a:pPr algn="l">
              <a:spcAft>
                <a:spcPts val="0"/>
              </a:spcAft>
            </a:pPr>
            <a:r>
              <a:rPr sz="1320" b="1">
                <a:solidFill>
                  <a:srgbClr val="132A38"/>
                </a:solidFill>
                <a:latin typeface="Segoe UI"/>
              </a:rPr>
              <a:t>No school beyond primary inside the community</a:t>
            </a:r>
          </a:p>
        </p:txBody>
      </p:sp>
      <p:sp>
        <p:nvSpPr>
          <p:cNvPr id="27" name="Rounded Rectangle 26"/>
          <p:cNvSpPr/>
          <p:nvPr/>
        </p:nvSpPr>
        <p:spPr>
          <a:xfrm>
            <a:off x="7406640" y="4681728"/>
            <a:ext cx="1636776" cy="109728"/>
          </a:xfrm>
          <a:prstGeom prst="roundRect">
            <a:avLst>
              <a:gd name="adj" fmla="val 8000"/>
            </a:avLst>
          </a:prstGeom>
          <a:solidFill>
            <a:srgbClr val="E2E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06640" y="4681728"/>
            <a:ext cx="1523838" cy="109728"/>
          </a:xfrm>
          <a:prstGeom prst="roundRect">
            <a:avLst>
              <a:gd name="adj" fmla="val 8000"/>
            </a:avLst>
          </a:prstGeom>
          <a:solidFill>
            <a:srgbClr val="1A9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436608" y="2002536"/>
            <a:ext cx="1965960" cy="3337560"/>
          </a:xfrm>
          <a:prstGeom prst="roundRect">
            <a:avLst>
              <a:gd name="adj" fmla="val 8000"/>
            </a:avLst>
          </a:prstGeom>
          <a:solidFill>
            <a:srgbClr val="FFFFFF"/>
          </a:solidFill>
          <a:ln w="10160">
            <a:solidFill>
              <a:srgbClr val="CCD8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0" y="2258568"/>
            <a:ext cx="1645920" cy="182880"/>
          </a:xfrm>
          <a:prstGeom prst="rect">
            <a:avLst/>
          </a:prstGeom>
          <a:noFill/>
        </p:spPr>
        <p:txBody>
          <a:bodyPr wrap="square" lIns="0" rIns="0" tIns="0" bIns="0" anchor="t">
            <a:spAutoFit/>
          </a:bodyPr>
          <a:lstStyle/>
          <a:p>
            <a:pPr algn="l">
              <a:spcAft>
                <a:spcPts val="0"/>
              </a:spcAft>
            </a:pPr>
            <a:r>
              <a:rPr sz="880" b="1">
                <a:solidFill>
                  <a:srgbClr val="2D8A67"/>
                </a:solidFill>
                <a:latin typeface="Segoe UI"/>
              </a:rPr>
              <a:t>LIVELIHOODS</a:t>
            </a:r>
          </a:p>
        </p:txBody>
      </p:sp>
      <p:sp>
        <p:nvSpPr>
          <p:cNvPr id="31" name="TextBox 30"/>
          <p:cNvSpPr txBox="1"/>
          <p:nvPr/>
        </p:nvSpPr>
        <p:spPr>
          <a:xfrm>
            <a:off x="9601200" y="2697480"/>
            <a:ext cx="1645920" cy="603504"/>
          </a:xfrm>
          <a:prstGeom prst="rect">
            <a:avLst/>
          </a:prstGeom>
          <a:noFill/>
        </p:spPr>
        <p:txBody>
          <a:bodyPr wrap="square" lIns="0" rIns="0" tIns="0" bIns="0" anchor="t">
            <a:spAutoFit/>
          </a:bodyPr>
          <a:lstStyle/>
          <a:p>
            <a:pPr algn="l">
              <a:spcAft>
                <a:spcPts val="0"/>
              </a:spcAft>
            </a:pPr>
            <a:r>
              <a:rPr sz="2700" b="1">
                <a:solidFill>
                  <a:srgbClr val="2D8A67"/>
                </a:solidFill>
                <a:latin typeface="Segoe UI Semibold"/>
              </a:rPr>
              <a:t>64.9%</a:t>
            </a:r>
          </a:p>
        </p:txBody>
      </p:sp>
      <p:sp>
        <p:nvSpPr>
          <p:cNvPr id="32" name="TextBox 31"/>
          <p:cNvSpPr txBox="1"/>
          <p:nvPr/>
        </p:nvSpPr>
        <p:spPr>
          <a:xfrm>
            <a:off x="9601200" y="3438144"/>
            <a:ext cx="1645920" cy="877824"/>
          </a:xfrm>
          <a:prstGeom prst="rect">
            <a:avLst/>
          </a:prstGeom>
          <a:noFill/>
        </p:spPr>
        <p:txBody>
          <a:bodyPr wrap="square" lIns="0" rIns="0" tIns="0" bIns="0" anchor="t">
            <a:spAutoFit/>
          </a:bodyPr>
          <a:lstStyle/>
          <a:p>
            <a:pPr algn="l">
              <a:spcAft>
                <a:spcPts val="0"/>
              </a:spcAft>
            </a:pPr>
            <a:r>
              <a:rPr sz="1320" b="1">
                <a:solidFill>
                  <a:srgbClr val="132A38"/>
                </a:solidFill>
                <a:latin typeface="Segoe UI"/>
              </a:rPr>
              <a:t>Fishing is the primary occupation</a:t>
            </a:r>
          </a:p>
        </p:txBody>
      </p:sp>
      <p:sp>
        <p:nvSpPr>
          <p:cNvPr id="33" name="Rounded Rectangle 32"/>
          <p:cNvSpPr/>
          <p:nvPr/>
        </p:nvSpPr>
        <p:spPr>
          <a:xfrm>
            <a:off x="9601200" y="4681728"/>
            <a:ext cx="1636776" cy="109728"/>
          </a:xfrm>
          <a:prstGeom prst="roundRect">
            <a:avLst>
              <a:gd name="adj" fmla="val 8000"/>
            </a:avLst>
          </a:prstGeom>
          <a:solidFill>
            <a:srgbClr val="E2E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01200" y="4681728"/>
            <a:ext cx="1062267" cy="109728"/>
          </a:xfrm>
          <a:prstGeom prst="roundRect">
            <a:avLst>
              <a:gd name="adj" fmla="val 8000"/>
            </a:avLst>
          </a:prstGeom>
          <a:solidFill>
            <a:srgbClr val="2D8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58368" y="5605272"/>
            <a:ext cx="10844784" cy="484632"/>
          </a:xfrm>
          <a:prstGeom prst="roundRect">
            <a:avLst>
              <a:gd name="adj" fmla="val 8000"/>
            </a:avLst>
          </a:prstGeom>
          <a:solidFill>
            <a:srgbClr val="07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5733288"/>
            <a:ext cx="10241280" cy="228600"/>
          </a:xfrm>
          <a:prstGeom prst="rect">
            <a:avLst/>
          </a:prstGeom>
          <a:noFill/>
        </p:spPr>
        <p:txBody>
          <a:bodyPr wrap="square" lIns="0" rIns="0" tIns="0" bIns="0" anchor="t">
            <a:spAutoFit/>
          </a:bodyPr>
          <a:lstStyle/>
          <a:p>
            <a:pPr algn="ctr">
              <a:spcAft>
                <a:spcPts val="0"/>
              </a:spcAft>
            </a:pPr>
            <a:r>
              <a:rPr sz="1250" b="1">
                <a:solidFill>
                  <a:srgbClr val="FFFFFF"/>
                </a:solidFill>
                <a:latin typeface="Segoe UI"/>
              </a:rPr>
              <a:t>Different communities carry different combinations, but health, access, environment, infrastructure and livelihoods repeatedly overlap.</a:t>
            </a:r>
          </a:p>
        </p:txBody>
      </p:sp>
      <p:sp>
        <p:nvSpPr>
          <p:cNvPr id="37" name="Rectangle 36"/>
          <p:cNvSpPr/>
          <p:nvPr/>
        </p:nvSpPr>
        <p:spPr>
          <a:xfrm>
            <a:off x="658368" y="6510528"/>
            <a:ext cx="10844784" cy="10972"/>
          </a:xfrm>
          <a:prstGeom prst="rect">
            <a:avLst/>
          </a:prstGeom>
          <a:solidFill>
            <a:srgbClr val="CCD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60717B"/>
                </a:solidFill>
                <a:latin typeface="Segoe UI"/>
              </a:rPr>
              <a:t>Source: Blue Lagos Community Baseline Report, August 2026; shares of 134 surveyed communities.</a:t>
            </a:r>
          </a:p>
        </p:txBody>
      </p:sp>
      <p:sp>
        <p:nvSpPr>
          <p:cNvPr id="39" name="TextBox 38"/>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60717B"/>
                </a:solidFill>
                <a:latin typeface="Segoe UI"/>
              </a:rPr>
              <a:t>BLUE LAGOS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HEALTH, WATER + EMERGENCY ACCESS</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132A38"/>
                </a:solidFill>
                <a:latin typeface="Segoe UI Semibold"/>
              </a:rPr>
              <a:t>Healthcare is not only about having a facility nearby.</a:t>
            </a:r>
          </a:p>
        </p:txBody>
      </p:sp>
      <p:sp>
        <p:nvSpPr>
          <p:cNvPr id="4" name="TextBox 3"/>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60717B"/>
                </a:solidFill>
                <a:latin typeface="Segoe UI"/>
              </a:rPr>
              <a:t>06</a:t>
            </a:r>
          </a:p>
        </p:txBody>
      </p:sp>
      <p:pic>
        <p:nvPicPr>
          <p:cNvPr id="5" name="Picture 4" descr="access_map.png"/>
          <p:cNvPicPr>
            <a:picLocks noChangeAspect="1"/>
          </p:cNvPicPr>
          <p:nvPr/>
        </p:nvPicPr>
        <p:blipFill>
          <a:blip r:embed="rId2"/>
          <a:stretch>
            <a:fillRect/>
          </a:stretch>
        </p:blipFill>
        <p:spPr>
          <a:xfrm>
            <a:off x="7251192" y="1554480"/>
            <a:ext cx="4251960" cy="2971800"/>
          </a:xfrm>
          <a:prstGeom prst="rect">
            <a:avLst/>
          </a:prstGeom>
        </p:spPr>
      </p:pic>
      <p:pic>
        <p:nvPicPr>
          <p:cNvPr id="6" name="Picture 5" descr="crop_boat_793_509_465_154.jpg"/>
          <p:cNvPicPr>
            <a:picLocks noChangeAspect="1"/>
          </p:cNvPicPr>
          <p:nvPr/>
        </p:nvPicPr>
        <p:blipFill>
          <a:blip r:embed="rId3"/>
          <a:stretch>
            <a:fillRect/>
          </a:stretch>
        </p:blipFill>
        <p:spPr>
          <a:xfrm>
            <a:off x="7251192" y="4663440"/>
            <a:ext cx="4251960" cy="1408176"/>
          </a:xfrm>
          <a:prstGeom prst="rect">
            <a:avLst/>
          </a:prstGeom>
        </p:spPr>
      </p:pic>
      <p:sp>
        <p:nvSpPr>
          <p:cNvPr id="7" name="TextBox 6"/>
          <p:cNvSpPr txBox="1"/>
          <p:nvPr/>
        </p:nvSpPr>
        <p:spPr>
          <a:xfrm>
            <a:off x="658368" y="1682496"/>
            <a:ext cx="6035040" cy="502920"/>
          </a:xfrm>
          <a:prstGeom prst="rect">
            <a:avLst/>
          </a:prstGeom>
          <a:noFill/>
        </p:spPr>
        <p:txBody>
          <a:bodyPr wrap="square" lIns="0" rIns="0" tIns="0" bIns="0" anchor="t">
            <a:spAutoFit/>
          </a:bodyPr>
          <a:lstStyle/>
          <a:p>
            <a:pPr algn="l">
              <a:spcAft>
                <a:spcPts val="0"/>
              </a:spcAft>
            </a:pPr>
            <a:r>
              <a:rPr sz="1850" b="1">
                <a:solidFill>
                  <a:srgbClr val="132A38"/>
                </a:solidFill>
                <a:latin typeface="Segoe UI Semibold"/>
              </a:rPr>
              <a:t>For many communities, the health journey begins at the landing point.</a:t>
            </a:r>
          </a:p>
        </p:txBody>
      </p:sp>
      <p:sp>
        <p:nvSpPr>
          <p:cNvPr id="8" name="TextBox 7"/>
          <p:cNvSpPr txBox="1"/>
          <p:nvPr/>
        </p:nvSpPr>
        <p:spPr>
          <a:xfrm>
            <a:off x="658368" y="2450592"/>
            <a:ext cx="3413912" cy="256032"/>
          </a:xfrm>
          <a:prstGeom prst="rect">
            <a:avLst/>
          </a:prstGeom>
          <a:noFill/>
        </p:spPr>
        <p:txBody>
          <a:bodyPr wrap="square" lIns="0" rIns="0" tIns="0" bIns="0" anchor="t">
            <a:spAutoFit/>
          </a:bodyPr>
          <a:lstStyle/>
          <a:p>
            <a:pPr algn="l">
              <a:spcAft>
                <a:spcPts val="0"/>
              </a:spcAft>
            </a:pPr>
            <a:r>
              <a:rPr sz="1150" b="1">
                <a:solidFill>
                  <a:srgbClr val="132A38"/>
                </a:solidFill>
                <a:latin typeface="Segoe UI"/>
              </a:rPr>
              <a:t>No formal first-aid point</a:t>
            </a:r>
          </a:p>
        </p:txBody>
      </p:sp>
      <p:sp>
        <p:nvSpPr>
          <p:cNvPr id="9" name="Rounded Rectangle 8"/>
          <p:cNvSpPr/>
          <p:nvPr/>
        </p:nvSpPr>
        <p:spPr>
          <a:xfrm>
            <a:off x="4132173" y="2482596"/>
            <a:ext cx="1856689" cy="155448"/>
          </a:xfrm>
          <a:prstGeom prst="roundRect">
            <a:avLst>
              <a:gd name="adj" fmla="val 8000"/>
            </a:avLst>
          </a:prstGeom>
          <a:solidFill>
            <a:srgbClr val="E3E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32173" y="2482596"/>
            <a:ext cx="1552192" cy="155448"/>
          </a:xfrm>
          <a:prstGeom prst="roundRect">
            <a:avLst>
              <a:gd name="adj" fmla="val 8000"/>
            </a:avLst>
          </a:prstGeom>
          <a:solidFill>
            <a:srgbClr val="D65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08649" y="2441448"/>
            <a:ext cx="539038" cy="246888"/>
          </a:xfrm>
          <a:prstGeom prst="rect">
            <a:avLst/>
          </a:prstGeom>
          <a:noFill/>
        </p:spPr>
        <p:txBody>
          <a:bodyPr wrap="square" lIns="0" rIns="0" tIns="0" bIns="0" anchor="t">
            <a:spAutoFit/>
          </a:bodyPr>
          <a:lstStyle/>
          <a:p>
            <a:pPr algn="r">
              <a:spcAft>
                <a:spcPts val="0"/>
              </a:spcAft>
            </a:pPr>
            <a:r>
              <a:rPr sz="1150" b="1">
                <a:solidFill>
                  <a:srgbClr val="132A38"/>
                </a:solidFill>
                <a:latin typeface="Segoe UI"/>
              </a:rPr>
              <a:t>83.6%</a:t>
            </a:r>
          </a:p>
        </p:txBody>
      </p:sp>
      <p:sp>
        <p:nvSpPr>
          <p:cNvPr id="12" name="TextBox 11"/>
          <p:cNvSpPr txBox="1"/>
          <p:nvPr/>
        </p:nvSpPr>
        <p:spPr>
          <a:xfrm>
            <a:off x="658368" y="3063240"/>
            <a:ext cx="3413912" cy="256032"/>
          </a:xfrm>
          <a:prstGeom prst="rect">
            <a:avLst/>
          </a:prstGeom>
          <a:noFill/>
        </p:spPr>
        <p:txBody>
          <a:bodyPr wrap="square" lIns="0" rIns="0" tIns="0" bIns="0" anchor="t">
            <a:spAutoFit/>
          </a:bodyPr>
          <a:lstStyle/>
          <a:p>
            <a:pPr algn="l">
              <a:spcAft>
                <a:spcPts val="0"/>
              </a:spcAft>
            </a:pPr>
            <a:r>
              <a:rPr sz="1150" b="1">
                <a:solidFill>
                  <a:srgbClr val="132A38"/>
                </a:solidFill>
                <a:latin typeface="Segoe UI"/>
              </a:rPr>
              <a:t>No motorised medical evacuation</a:t>
            </a:r>
          </a:p>
        </p:txBody>
      </p:sp>
      <p:sp>
        <p:nvSpPr>
          <p:cNvPr id="13" name="Rounded Rectangle 12"/>
          <p:cNvSpPr/>
          <p:nvPr/>
        </p:nvSpPr>
        <p:spPr>
          <a:xfrm>
            <a:off x="4132173" y="3095244"/>
            <a:ext cx="1856689" cy="155448"/>
          </a:xfrm>
          <a:prstGeom prst="roundRect">
            <a:avLst>
              <a:gd name="adj" fmla="val 8000"/>
            </a:avLst>
          </a:prstGeom>
          <a:solidFill>
            <a:srgbClr val="E3E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132173" y="3095244"/>
            <a:ext cx="1496491" cy="155448"/>
          </a:xfrm>
          <a:prstGeom prst="roundRect">
            <a:avLst>
              <a:gd name="adj" fmla="val 8000"/>
            </a:avLst>
          </a:prstGeom>
          <a:solidFill>
            <a:srgbClr val="D65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08649" y="3054096"/>
            <a:ext cx="539038" cy="246888"/>
          </a:xfrm>
          <a:prstGeom prst="rect">
            <a:avLst/>
          </a:prstGeom>
          <a:noFill/>
        </p:spPr>
        <p:txBody>
          <a:bodyPr wrap="square" lIns="0" rIns="0" tIns="0" bIns="0" anchor="t">
            <a:spAutoFit/>
          </a:bodyPr>
          <a:lstStyle/>
          <a:p>
            <a:pPr algn="r">
              <a:spcAft>
                <a:spcPts val="0"/>
              </a:spcAft>
            </a:pPr>
            <a:r>
              <a:rPr sz="1150" b="1">
                <a:solidFill>
                  <a:srgbClr val="132A38"/>
                </a:solidFill>
                <a:latin typeface="Segoe UI"/>
              </a:rPr>
              <a:t>80.6%</a:t>
            </a:r>
          </a:p>
        </p:txBody>
      </p:sp>
      <p:sp>
        <p:nvSpPr>
          <p:cNvPr id="16" name="TextBox 15"/>
          <p:cNvSpPr txBox="1"/>
          <p:nvPr/>
        </p:nvSpPr>
        <p:spPr>
          <a:xfrm>
            <a:off x="658368" y="3675887"/>
            <a:ext cx="3413912" cy="256032"/>
          </a:xfrm>
          <a:prstGeom prst="rect">
            <a:avLst/>
          </a:prstGeom>
          <a:noFill/>
        </p:spPr>
        <p:txBody>
          <a:bodyPr wrap="square" lIns="0" rIns="0" tIns="0" bIns="0" anchor="t">
            <a:spAutoFit/>
          </a:bodyPr>
          <a:lstStyle/>
          <a:p>
            <a:pPr algn="l">
              <a:spcAft>
                <a:spcPts val="0"/>
              </a:spcAft>
            </a:pPr>
            <a:r>
              <a:rPr sz="1150" b="1">
                <a:solidFill>
                  <a:srgbClr val="132A38"/>
                </a:solidFill>
                <a:latin typeface="Segoe UI"/>
              </a:rPr>
              <a:t>Open or open-water defecation</a:t>
            </a:r>
          </a:p>
        </p:txBody>
      </p:sp>
      <p:sp>
        <p:nvSpPr>
          <p:cNvPr id="17" name="Rounded Rectangle 16"/>
          <p:cNvSpPr/>
          <p:nvPr/>
        </p:nvSpPr>
        <p:spPr>
          <a:xfrm>
            <a:off x="4132173" y="3707891"/>
            <a:ext cx="1856689" cy="155448"/>
          </a:xfrm>
          <a:prstGeom prst="roundRect">
            <a:avLst>
              <a:gd name="adj" fmla="val 8000"/>
            </a:avLst>
          </a:prstGeom>
          <a:solidFill>
            <a:srgbClr val="E3E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132173" y="3707891"/>
            <a:ext cx="1509488" cy="155448"/>
          </a:xfrm>
          <a:prstGeom prst="roundRect">
            <a:avLst>
              <a:gd name="adj" fmla="val 8000"/>
            </a:avLst>
          </a:prstGeom>
          <a:solidFill>
            <a:srgbClr val="07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08649" y="3666744"/>
            <a:ext cx="539038" cy="246888"/>
          </a:xfrm>
          <a:prstGeom prst="rect">
            <a:avLst/>
          </a:prstGeom>
          <a:noFill/>
        </p:spPr>
        <p:txBody>
          <a:bodyPr wrap="square" lIns="0" rIns="0" tIns="0" bIns="0" anchor="t">
            <a:spAutoFit/>
          </a:bodyPr>
          <a:lstStyle/>
          <a:p>
            <a:pPr algn="r">
              <a:spcAft>
                <a:spcPts val="0"/>
              </a:spcAft>
            </a:pPr>
            <a:r>
              <a:rPr sz="1150" b="1">
                <a:solidFill>
                  <a:srgbClr val="132A38"/>
                </a:solidFill>
                <a:latin typeface="Segoe UI"/>
              </a:rPr>
              <a:t>81.3%</a:t>
            </a:r>
          </a:p>
        </p:txBody>
      </p:sp>
      <p:sp>
        <p:nvSpPr>
          <p:cNvPr id="20" name="TextBox 19"/>
          <p:cNvSpPr txBox="1"/>
          <p:nvPr/>
        </p:nvSpPr>
        <p:spPr>
          <a:xfrm>
            <a:off x="658368" y="4288536"/>
            <a:ext cx="3413912" cy="256032"/>
          </a:xfrm>
          <a:prstGeom prst="rect">
            <a:avLst/>
          </a:prstGeom>
          <a:noFill/>
        </p:spPr>
        <p:txBody>
          <a:bodyPr wrap="square" lIns="0" rIns="0" tIns="0" bIns="0" anchor="t">
            <a:spAutoFit/>
          </a:bodyPr>
          <a:lstStyle/>
          <a:p>
            <a:pPr algn="l">
              <a:spcAft>
                <a:spcPts val="0"/>
              </a:spcAft>
            </a:pPr>
            <a:r>
              <a:rPr sz="1150" b="1">
                <a:solidFill>
                  <a:srgbClr val="132A38"/>
                </a:solidFill>
                <a:latin typeface="Segoe UI"/>
              </a:rPr>
              <a:t>Well as primary drinking water</a:t>
            </a:r>
          </a:p>
        </p:txBody>
      </p:sp>
      <p:sp>
        <p:nvSpPr>
          <p:cNvPr id="21" name="Rounded Rectangle 20"/>
          <p:cNvSpPr/>
          <p:nvPr/>
        </p:nvSpPr>
        <p:spPr>
          <a:xfrm>
            <a:off x="4132173" y="4320540"/>
            <a:ext cx="1856689" cy="155448"/>
          </a:xfrm>
          <a:prstGeom prst="roundRect">
            <a:avLst>
              <a:gd name="adj" fmla="val 8000"/>
            </a:avLst>
          </a:prstGeom>
          <a:solidFill>
            <a:srgbClr val="E3E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132173" y="4320540"/>
            <a:ext cx="1149290" cy="155448"/>
          </a:xfrm>
          <a:prstGeom prst="roundRect">
            <a:avLst>
              <a:gd name="adj" fmla="val 8000"/>
            </a:avLst>
          </a:prstGeom>
          <a:solidFill>
            <a:srgbClr val="D8B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08649" y="4279392"/>
            <a:ext cx="539038" cy="246888"/>
          </a:xfrm>
          <a:prstGeom prst="rect">
            <a:avLst/>
          </a:prstGeom>
          <a:noFill/>
        </p:spPr>
        <p:txBody>
          <a:bodyPr wrap="square" lIns="0" rIns="0" tIns="0" bIns="0" anchor="t">
            <a:spAutoFit/>
          </a:bodyPr>
          <a:lstStyle/>
          <a:p>
            <a:pPr algn="r">
              <a:spcAft>
                <a:spcPts val="0"/>
              </a:spcAft>
            </a:pPr>
            <a:r>
              <a:rPr sz="1150" b="1">
                <a:solidFill>
                  <a:srgbClr val="132A38"/>
                </a:solidFill>
                <a:latin typeface="Segoe UI"/>
              </a:rPr>
              <a:t>61.9%</a:t>
            </a:r>
          </a:p>
        </p:txBody>
      </p:sp>
      <p:sp>
        <p:nvSpPr>
          <p:cNvPr id="24" name="Rounded Rectangle 23"/>
          <p:cNvSpPr/>
          <p:nvPr/>
        </p:nvSpPr>
        <p:spPr>
          <a:xfrm>
            <a:off x="658368" y="5074920"/>
            <a:ext cx="5989320" cy="996696"/>
          </a:xfrm>
          <a:prstGeom prst="roundRect">
            <a:avLst>
              <a:gd name="adj" fmla="val 8000"/>
            </a:avLst>
          </a:prstGeom>
          <a:solidFill>
            <a:srgbClr val="DD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303520"/>
            <a:ext cx="1389888" cy="192024"/>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Planning implication</a:t>
            </a:r>
          </a:p>
        </p:txBody>
      </p:sp>
      <p:sp>
        <p:nvSpPr>
          <p:cNvPr id="26" name="TextBox 25"/>
          <p:cNvSpPr txBox="1"/>
          <p:nvPr/>
        </p:nvSpPr>
        <p:spPr>
          <a:xfrm>
            <a:off x="2258568" y="5257800"/>
            <a:ext cx="4050791" cy="438912"/>
          </a:xfrm>
          <a:prstGeom prst="rect">
            <a:avLst/>
          </a:prstGeom>
          <a:noFill/>
        </p:spPr>
        <p:txBody>
          <a:bodyPr wrap="square" lIns="0" rIns="0" tIns="0" bIns="0" anchor="t">
            <a:spAutoFit/>
          </a:bodyPr>
          <a:lstStyle/>
          <a:p>
            <a:pPr algn="l">
              <a:spcAft>
                <a:spcPts val="0"/>
              </a:spcAft>
            </a:pPr>
            <a:r>
              <a:rPr sz="1500" b="1">
                <a:solidFill>
                  <a:srgbClr val="132A38"/>
                </a:solidFill>
                <a:latin typeface="Segoe UI"/>
              </a:rPr>
              <a:t>Health outreach, safe water and emergency movement need to be planned together.</a:t>
            </a:r>
          </a:p>
        </p:txBody>
      </p:sp>
      <p:sp>
        <p:nvSpPr>
          <p:cNvPr id="27" name="Rectangle 26"/>
          <p:cNvSpPr/>
          <p:nvPr/>
        </p:nvSpPr>
        <p:spPr>
          <a:xfrm>
            <a:off x="658368" y="6510528"/>
            <a:ext cx="10844784" cy="10972"/>
          </a:xfrm>
          <a:prstGeom prst="rect">
            <a:avLst/>
          </a:prstGeom>
          <a:solidFill>
            <a:srgbClr val="CCD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60717B"/>
                </a:solidFill>
                <a:latin typeface="Segoe UI"/>
              </a:rPr>
              <a:t>Sources: baseline report; Blue Lagos spatial context; OSM mapped health facilities. Distances are straight-line.</a:t>
            </a:r>
          </a:p>
        </p:txBody>
      </p:sp>
      <p:sp>
        <p:nvSpPr>
          <p:cNvPr id="29" name="TextBox 28"/>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60717B"/>
                </a:solidFill>
                <a:latin typeface="Segoe UI"/>
              </a:rPr>
              <a:t>BLUE LAGOS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ACCESS AND THE WATER NETWORK</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132A38"/>
                </a:solidFill>
                <a:latin typeface="Segoe UI Semibold"/>
              </a:rPr>
              <a:t>Water is part of the transport network.</a:t>
            </a:r>
          </a:p>
        </p:txBody>
      </p:sp>
      <p:sp>
        <p:nvSpPr>
          <p:cNvPr id="4" name="TextBox 3"/>
          <p:cNvSpPr txBox="1"/>
          <p:nvPr/>
        </p:nvSpPr>
        <p:spPr>
          <a:xfrm>
            <a:off x="676656" y="1408176"/>
            <a:ext cx="10469880" cy="438912"/>
          </a:xfrm>
          <a:prstGeom prst="rect">
            <a:avLst/>
          </a:prstGeom>
          <a:noFill/>
        </p:spPr>
        <p:txBody>
          <a:bodyPr wrap="square" lIns="0" rIns="0" tIns="0" bIns="0" anchor="t">
            <a:spAutoFit/>
          </a:bodyPr>
          <a:lstStyle/>
          <a:p>
            <a:pPr algn="l">
              <a:spcAft>
                <a:spcPts val="0"/>
              </a:spcAft>
            </a:pPr>
            <a:r>
              <a:rPr sz="1450" b="0">
                <a:solidFill>
                  <a:srgbClr val="60717B"/>
                </a:solidFill>
                <a:latin typeface="Segoe UI"/>
              </a:rPr>
              <a:t>Communities, waterways and landing points have to be understood together.</a:t>
            </a:r>
          </a:p>
        </p:txBody>
      </p:sp>
      <p:sp>
        <p:nvSpPr>
          <p:cNvPr id="5" name="TextBox 4"/>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60717B"/>
                </a:solidFill>
                <a:latin typeface="Segoe UI"/>
              </a:rPr>
              <a:t>07</a:t>
            </a:r>
          </a:p>
        </p:txBody>
      </p:sp>
      <p:pic>
        <p:nvPicPr>
          <p:cNvPr id="6" name="Picture 5" descr="water_network_map.png"/>
          <p:cNvPicPr>
            <a:picLocks noChangeAspect="1"/>
          </p:cNvPicPr>
          <p:nvPr/>
        </p:nvPicPr>
        <p:blipFill>
          <a:blip r:embed="rId2"/>
          <a:stretch>
            <a:fillRect/>
          </a:stretch>
        </p:blipFill>
        <p:spPr>
          <a:xfrm>
            <a:off x="658368" y="1947672"/>
            <a:ext cx="7388352" cy="4133087"/>
          </a:xfrm>
          <a:prstGeom prst="rect">
            <a:avLst/>
          </a:prstGeom>
        </p:spPr>
      </p:pic>
      <p:sp>
        <p:nvSpPr>
          <p:cNvPr id="7" name="Rounded Rectangle 6"/>
          <p:cNvSpPr/>
          <p:nvPr/>
        </p:nvSpPr>
        <p:spPr>
          <a:xfrm>
            <a:off x="8275320" y="1947672"/>
            <a:ext cx="3227832" cy="4133087"/>
          </a:xfrm>
          <a:prstGeom prst="roundRect">
            <a:avLst>
              <a:gd name="adj" fmla="val 8000"/>
            </a:avLst>
          </a:prstGeom>
          <a:solidFill>
            <a:srgbClr val="07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77072" y="2304288"/>
            <a:ext cx="2587752" cy="210312"/>
          </a:xfrm>
          <a:prstGeom prst="rect">
            <a:avLst/>
          </a:prstGeom>
          <a:noFill/>
        </p:spPr>
        <p:txBody>
          <a:bodyPr wrap="square" lIns="0" rIns="0" tIns="0" bIns="0" anchor="t">
            <a:spAutoFit/>
          </a:bodyPr>
          <a:lstStyle/>
          <a:p>
            <a:pPr algn="l">
              <a:spcAft>
                <a:spcPts val="0"/>
              </a:spcAft>
            </a:pPr>
            <a:r>
              <a:rPr sz="1000" b="1">
                <a:solidFill>
                  <a:srgbClr val="67D6CF"/>
                </a:solidFill>
                <a:latin typeface="Segoe UI"/>
              </a:rPr>
              <a:t>WATER-RELIANT ACCESS AFFECTS</a:t>
            </a:r>
          </a:p>
        </p:txBody>
      </p:sp>
      <p:sp>
        <p:nvSpPr>
          <p:cNvPr id="9" name="Rounded Rectangle 8"/>
          <p:cNvSpPr/>
          <p:nvPr/>
        </p:nvSpPr>
        <p:spPr>
          <a:xfrm>
            <a:off x="8577072" y="2825496"/>
            <a:ext cx="118872" cy="118872"/>
          </a:xfrm>
          <a:prstGeom prst="roundRect">
            <a:avLst>
              <a:gd name="adj" fmla="val 8000"/>
            </a:avLst>
          </a:prstGeom>
          <a:solidFill>
            <a:srgbClr val="D65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0" y="2788920"/>
            <a:ext cx="2103120" cy="256032"/>
          </a:xfrm>
          <a:prstGeom prst="rect">
            <a:avLst/>
          </a:prstGeom>
          <a:noFill/>
        </p:spPr>
        <p:txBody>
          <a:bodyPr wrap="square" lIns="0" rIns="0" tIns="0" bIns="0" anchor="t">
            <a:spAutoFit/>
          </a:bodyPr>
          <a:lstStyle/>
          <a:p>
            <a:pPr algn="l">
              <a:spcAft>
                <a:spcPts val="0"/>
              </a:spcAft>
            </a:pPr>
            <a:r>
              <a:rPr sz="1300" b="1">
                <a:solidFill>
                  <a:srgbClr val="FFFFFF"/>
                </a:solidFill>
                <a:latin typeface="Segoe UI"/>
              </a:rPr>
              <a:t>Emergency evacuation</a:t>
            </a:r>
          </a:p>
        </p:txBody>
      </p:sp>
      <p:sp>
        <p:nvSpPr>
          <p:cNvPr id="11" name="Rounded Rectangle 10"/>
          <p:cNvSpPr/>
          <p:nvPr/>
        </p:nvSpPr>
        <p:spPr>
          <a:xfrm>
            <a:off x="8577072" y="3346703"/>
            <a:ext cx="118872" cy="118872"/>
          </a:xfrm>
          <a:prstGeom prst="roundRect">
            <a:avLst>
              <a:gd name="adj" fmla="val 8000"/>
            </a:avLst>
          </a:prstGeom>
          <a:solidFill>
            <a:srgbClr val="0989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0" y="3310127"/>
            <a:ext cx="2103120" cy="256032"/>
          </a:xfrm>
          <a:prstGeom prst="rect">
            <a:avLst/>
          </a:prstGeom>
          <a:noFill/>
        </p:spPr>
        <p:txBody>
          <a:bodyPr wrap="square" lIns="0" rIns="0" tIns="0" bIns="0" anchor="t">
            <a:spAutoFit/>
          </a:bodyPr>
          <a:lstStyle/>
          <a:p>
            <a:pPr algn="l">
              <a:spcAft>
                <a:spcPts val="0"/>
              </a:spcAft>
            </a:pPr>
            <a:r>
              <a:rPr sz="1300" b="1">
                <a:solidFill>
                  <a:srgbClr val="FFFFFF"/>
                </a:solidFill>
                <a:latin typeface="Segoe UI"/>
              </a:rPr>
              <a:t>Healthcare</a:t>
            </a:r>
          </a:p>
        </p:txBody>
      </p:sp>
      <p:sp>
        <p:nvSpPr>
          <p:cNvPr id="13" name="Rounded Rectangle 12"/>
          <p:cNvSpPr/>
          <p:nvPr/>
        </p:nvSpPr>
        <p:spPr>
          <a:xfrm>
            <a:off x="8577072" y="3867911"/>
            <a:ext cx="118872" cy="118872"/>
          </a:xfrm>
          <a:prstGeom prst="roundRect">
            <a:avLst>
              <a:gd name="adj" fmla="val 8000"/>
            </a:avLst>
          </a:prstGeom>
          <a:solidFill>
            <a:srgbClr val="1A9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0" y="3831335"/>
            <a:ext cx="2103120" cy="256032"/>
          </a:xfrm>
          <a:prstGeom prst="rect">
            <a:avLst/>
          </a:prstGeom>
          <a:noFill/>
        </p:spPr>
        <p:txBody>
          <a:bodyPr wrap="square" lIns="0" rIns="0" tIns="0" bIns="0" anchor="t">
            <a:spAutoFit/>
          </a:bodyPr>
          <a:lstStyle/>
          <a:p>
            <a:pPr algn="l">
              <a:spcAft>
                <a:spcPts val="0"/>
              </a:spcAft>
            </a:pPr>
            <a:r>
              <a:rPr sz="1300" b="1">
                <a:solidFill>
                  <a:srgbClr val="FFFFFF"/>
                </a:solidFill>
                <a:latin typeface="Segoe UI"/>
              </a:rPr>
              <a:t>Education</a:t>
            </a:r>
          </a:p>
        </p:txBody>
      </p:sp>
      <p:sp>
        <p:nvSpPr>
          <p:cNvPr id="15" name="Rounded Rectangle 14"/>
          <p:cNvSpPr/>
          <p:nvPr/>
        </p:nvSpPr>
        <p:spPr>
          <a:xfrm>
            <a:off x="8577072" y="4389120"/>
            <a:ext cx="118872" cy="118872"/>
          </a:xfrm>
          <a:prstGeom prst="roundRect">
            <a:avLst>
              <a:gd name="adj" fmla="val 8000"/>
            </a:avLst>
          </a:prstGeom>
          <a:solidFill>
            <a:srgbClr val="D8B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0" y="4352544"/>
            <a:ext cx="2103120" cy="256032"/>
          </a:xfrm>
          <a:prstGeom prst="rect">
            <a:avLst/>
          </a:prstGeom>
          <a:noFill/>
        </p:spPr>
        <p:txBody>
          <a:bodyPr wrap="square" lIns="0" rIns="0" tIns="0" bIns="0" anchor="t">
            <a:spAutoFit/>
          </a:bodyPr>
          <a:lstStyle/>
          <a:p>
            <a:pPr algn="l">
              <a:spcAft>
                <a:spcPts val="0"/>
              </a:spcAft>
            </a:pPr>
            <a:r>
              <a:rPr sz="1300" b="1">
                <a:solidFill>
                  <a:srgbClr val="FFFFFF"/>
                </a:solidFill>
                <a:latin typeface="Segoe UI"/>
              </a:rPr>
              <a:t>Markets and jobs</a:t>
            </a:r>
          </a:p>
        </p:txBody>
      </p:sp>
      <p:sp>
        <p:nvSpPr>
          <p:cNvPr id="17" name="Rounded Rectangle 16"/>
          <p:cNvSpPr/>
          <p:nvPr/>
        </p:nvSpPr>
        <p:spPr>
          <a:xfrm>
            <a:off x="8577072" y="4910328"/>
            <a:ext cx="118872" cy="118872"/>
          </a:xfrm>
          <a:prstGeom prst="roundRect">
            <a:avLst>
              <a:gd name="adj" fmla="val 8000"/>
            </a:avLst>
          </a:prstGeom>
          <a:solidFill>
            <a:srgbClr val="2D8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0" y="4873752"/>
            <a:ext cx="2103120" cy="256032"/>
          </a:xfrm>
          <a:prstGeom prst="rect">
            <a:avLst/>
          </a:prstGeom>
          <a:noFill/>
        </p:spPr>
        <p:txBody>
          <a:bodyPr wrap="square" lIns="0" rIns="0" tIns="0" bIns="0" anchor="t">
            <a:spAutoFit/>
          </a:bodyPr>
          <a:lstStyle/>
          <a:p>
            <a:pPr algn="l">
              <a:spcAft>
                <a:spcPts val="0"/>
              </a:spcAft>
            </a:pPr>
            <a:r>
              <a:rPr sz="1300" b="1">
                <a:solidFill>
                  <a:srgbClr val="FFFFFF"/>
                </a:solidFill>
                <a:latin typeface="Segoe UI"/>
              </a:rPr>
              <a:t>Government services</a:t>
            </a:r>
          </a:p>
        </p:txBody>
      </p:sp>
      <p:sp>
        <p:nvSpPr>
          <p:cNvPr id="19" name="TextBox 18"/>
          <p:cNvSpPr txBox="1"/>
          <p:nvPr/>
        </p:nvSpPr>
        <p:spPr>
          <a:xfrm>
            <a:off x="8577072" y="5596128"/>
            <a:ext cx="2468880" cy="347472"/>
          </a:xfrm>
          <a:prstGeom prst="rect">
            <a:avLst/>
          </a:prstGeom>
          <a:noFill/>
        </p:spPr>
        <p:txBody>
          <a:bodyPr wrap="square" lIns="0" rIns="0" tIns="0" bIns="0" anchor="t">
            <a:spAutoFit/>
          </a:bodyPr>
          <a:lstStyle/>
          <a:p>
            <a:pPr algn="l">
              <a:spcAft>
                <a:spcPts val="0"/>
              </a:spcAft>
            </a:pPr>
            <a:r>
              <a:rPr sz="1050" b="1">
                <a:solidFill>
                  <a:srgbClr val="BFD1D9"/>
                </a:solidFill>
                <a:latin typeface="Segoe UI"/>
              </a:rPr>
              <a:t>Road planning alone cannot explain practical reach.</a:t>
            </a:r>
          </a:p>
        </p:txBody>
      </p:sp>
      <p:sp>
        <p:nvSpPr>
          <p:cNvPr id="20" name="Rectangle 19"/>
          <p:cNvSpPr/>
          <p:nvPr/>
        </p:nvSpPr>
        <p:spPr>
          <a:xfrm>
            <a:off x="658368" y="6510528"/>
            <a:ext cx="10844784" cy="10972"/>
          </a:xfrm>
          <a:prstGeom prst="rect">
            <a:avLst/>
          </a:prstGeom>
          <a:solidFill>
            <a:srgbClr val="CCD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60717B"/>
                </a:solidFill>
                <a:latin typeface="Segoe UI"/>
              </a:rPr>
              <a:t>Sources: field register; OSM mapped waterways and marine-access points. Navigability is not asserted.</a:t>
            </a:r>
          </a:p>
        </p:txBody>
      </p:sp>
      <p:sp>
        <p:nvSpPr>
          <p:cNvPr id="22" name="TextBox 21"/>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60717B"/>
                </a:solidFill>
                <a:latin typeface="Segoe UI"/>
              </a:rPr>
              <a:t>BLUE LAGOS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C2C"/>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67D6CF"/>
                </a:solidFill>
                <a:latin typeface="Segoe UI"/>
              </a:rPr>
              <a:t>FLOODING, EROSION + ENVIRONMENT</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FFFFFF"/>
                </a:solidFill>
                <a:latin typeface="Segoe UI Semibold"/>
              </a:rPr>
              <a:t>Environmental pressure is already part of daily life.</a:t>
            </a:r>
          </a:p>
        </p:txBody>
      </p:sp>
      <p:sp>
        <p:nvSpPr>
          <p:cNvPr id="4" name="TextBox 3"/>
          <p:cNvSpPr txBox="1"/>
          <p:nvPr/>
        </p:nvSpPr>
        <p:spPr>
          <a:xfrm>
            <a:off x="676656" y="1408176"/>
            <a:ext cx="10469880" cy="438912"/>
          </a:xfrm>
          <a:prstGeom prst="rect">
            <a:avLst/>
          </a:prstGeom>
          <a:noFill/>
        </p:spPr>
        <p:txBody>
          <a:bodyPr wrap="square" lIns="0" rIns="0" tIns="0" bIns="0" anchor="t">
            <a:spAutoFit/>
          </a:bodyPr>
          <a:lstStyle/>
          <a:p>
            <a:pPr algn="l">
              <a:spcAft>
                <a:spcPts val="0"/>
              </a:spcAft>
            </a:pPr>
            <a:r>
              <a:rPr sz="1450" b="0">
                <a:solidFill>
                  <a:srgbClr val="BFD1D9"/>
                </a:solidFill>
                <a:latin typeface="Segoe UI"/>
              </a:rPr>
              <a:t>Field experience and historical spatial evidence point to pressure on settlement, housing and livelihoods.</a:t>
            </a:r>
          </a:p>
        </p:txBody>
      </p:sp>
      <p:sp>
        <p:nvSpPr>
          <p:cNvPr id="5" name="TextBox 4"/>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BFD1D9"/>
                </a:solidFill>
                <a:latin typeface="Segoe UI"/>
              </a:rPr>
              <a:t>08</a:t>
            </a:r>
          </a:p>
        </p:txBody>
      </p:sp>
      <p:sp>
        <p:nvSpPr>
          <p:cNvPr id="6" name="Rounded Rectangle 5"/>
          <p:cNvSpPr/>
          <p:nvPr/>
        </p:nvSpPr>
        <p:spPr>
          <a:xfrm>
            <a:off x="658368" y="1874519"/>
            <a:ext cx="7050024" cy="41513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verity.jpg"/>
          <p:cNvPicPr>
            <a:picLocks noChangeAspect="1"/>
          </p:cNvPicPr>
          <p:nvPr/>
        </p:nvPicPr>
        <p:blipFill>
          <a:blip r:embed="rId2"/>
          <a:stretch>
            <a:fillRect/>
          </a:stretch>
        </p:blipFill>
        <p:spPr>
          <a:xfrm>
            <a:off x="786384" y="2029968"/>
            <a:ext cx="6793992" cy="2569464"/>
          </a:xfrm>
          <a:prstGeom prst="rect">
            <a:avLst/>
          </a:prstGeom>
        </p:spPr>
      </p:pic>
      <p:pic>
        <p:nvPicPr>
          <p:cNvPr id="8" name="Picture 7" descr="shoreline.jpg"/>
          <p:cNvPicPr>
            <a:picLocks noChangeAspect="1"/>
          </p:cNvPicPr>
          <p:nvPr/>
        </p:nvPicPr>
        <p:blipFill>
          <a:blip r:embed="rId3"/>
          <a:stretch>
            <a:fillRect/>
          </a:stretch>
        </p:blipFill>
        <p:spPr>
          <a:xfrm>
            <a:off x="786384" y="4745736"/>
            <a:ext cx="6793992" cy="1143000"/>
          </a:xfrm>
          <a:prstGeom prst="rect">
            <a:avLst/>
          </a:prstGeom>
        </p:spPr>
      </p:pic>
      <p:sp>
        <p:nvSpPr>
          <p:cNvPr id="9" name="Rounded Rectangle 8"/>
          <p:cNvSpPr/>
          <p:nvPr/>
        </p:nvSpPr>
        <p:spPr>
          <a:xfrm>
            <a:off x="7991856" y="1874519"/>
            <a:ext cx="3511296" cy="4151376"/>
          </a:xfrm>
          <a:prstGeom prst="roundRect">
            <a:avLst>
              <a:gd name="adj" fmla="val 8000"/>
            </a:avLst>
          </a:prstGeom>
          <a:solidFill>
            <a:srgbClr val="0D2D42"/>
          </a:solidFill>
          <a:ln w="10160">
            <a:solidFill>
              <a:srgbClr val="315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39327" y="2331720"/>
            <a:ext cx="2788920" cy="621792"/>
          </a:xfrm>
          <a:prstGeom prst="rect">
            <a:avLst/>
          </a:prstGeom>
          <a:noFill/>
        </p:spPr>
        <p:txBody>
          <a:bodyPr wrap="square" lIns="0" rIns="0" tIns="0" bIns="0" anchor="t">
            <a:spAutoFit/>
          </a:bodyPr>
          <a:lstStyle/>
          <a:p>
            <a:pPr algn="l">
              <a:spcAft>
                <a:spcPts val="0"/>
              </a:spcAft>
            </a:pPr>
            <a:r>
              <a:rPr sz="3200" b="1">
                <a:solidFill>
                  <a:srgbClr val="D65C55"/>
                </a:solidFill>
                <a:latin typeface="Segoe UI Semibold"/>
              </a:rPr>
              <a:t>22.4%</a:t>
            </a:r>
          </a:p>
        </p:txBody>
      </p:sp>
      <p:sp>
        <p:nvSpPr>
          <p:cNvPr id="11" name="TextBox 10"/>
          <p:cNvSpPr txBox="1"/>
          <p:nvPr/>
        </p:nvSpPr>
        <p:spPr>
          <a:xfrm>
            <a:off x="8339327" y="3127248"/>
            <a:ext cx="2788920" cy="1188720"/>
          </a:xfrm>
          <a:prstGeom prst="rect">
            <a:avLst/>
          </a:prstGeom>
          <a:noFill/>
        </p:spPr>
        <p:txBody>
          <a:bodyPr wrap="square" lIns="0" rIns="0" tIns="0" bIns="0" anchor="t">
            <a:spAutoFit/>
          </a:bodyPr>
          <a:lstStyle/>
          <a:p>
            <a:pPr algn="l">
              <a:spcAft>
                <a:spcPts val="0"/>
              </a:spcAft>
            </a:pPr>
            <a:r>
              <a:rPr sz="1500" b="1">
                <a:solidFill>
                  <a:srgbClr val="FFFFFF"/>
                </a:solidFill>
                <a:latin typeface="Segoe UI"/>
              </a:rPr>
              <a:t>of surveyed communities reported losing living space or houses to erosion or water encroachment in the previous five years.</a:t>
            </a:r>
          </a:p>
        </p:txBody>
      </p:sp>
      <p:sp>
        <p:nvSpPr>
          <p:cNvPr id="12" name="TextBox 11"/>
          <p:cNvSpPr txBox="1"/>
          <p:nvPr/>
        </p:nvSpPr>
        <p:spPr>
          <a:xfrm>
            <a:off x="8339327" y="4672584"/>
            <a:ext cx="2788920" cy="237744"/>
          </a:xfrm>
          <a:prstGeom prst="rect">
            <a:avLst/>
          </a:prstGeom>
          <a:noFill/>
        </p:spPr>
        <p:txBody>
          <a:bodyPr wrap="square" lIns="0" rIns="0" tIns="0" bIns="0" anchor="t">
            <a:spAutoFit/>
          </a:bodyPr>
          <a:lstStyle/>
          <a:p>
            <a:pPr algn="l">
              <a:spcAft>
                <a:spcPts val="0"/>
              </a:spcAft>
            </a:pPr>
            <a:r>
              <a:rPr sz="1050" b="1">
                <a:solidFill>
                  <a:srgbClr val="67D6CF"/>
                </a:solidFill>
                <a:latin typeface="Segoe UI"/>
              </a:rPr>
              <a:t>Read the two evidence types separately</a:t>
            </a:r>
          </a:p>
        </p:txBody>
      </p:sp>
      <p:sp>
        <p:nvSpPr>
          <p:cNvPr id="13" name="TextBox 12"/>
          <p:cNvSpPr txBox="1"/>
          <p:nvPr/>
        </p:nvSpPr>
        <p:spPr>
          <a:xfrm>
            <a:off x="8339327" y="5038344"/>
            <a:ext cx="2788920" cy="658368"/>
          </a:xfrm>
          <a:prstGeom prst="rect">
            <a:avLst/>
          </a:prstGeom>
          <a:noFill/>
        </p:spPr>
        <p:txBody>
          <a:bodyPr wrap="square" lIns="0" rIns="0" tIns="0" bIns="0" anchor="t">
            <a:spAutoFit/>
          </a:bodyPr>
          <a:lstStyle/>
          <a:p>
            <a:pPr algn="l">
              <a:spcAft>
                <a:spcPts val="0"/>
              </a:spcAft>
            </a:pPr>
            <a:r>
              <a:rPr sz="1150" b="0">
                <a:solidFill>
                  <a:srgbClr val="BFD1D9"/>
                </a:solidFill>
                <a:latin typeface="Segoe UI"/>
              </a:rPr>
              <a:t>Community impacts are field-reported. The maps reproduce historical analysis from the August baseline report.</a:t>
            </a:r>
          </a:p>
        </p:txBody>
      </p:sp>
      <p:sp>
        <p:nvSpPr>
          <p:cNvPr id="14" name="Rectangle 13"/>
          <p:cNvSpPr/>
          <p:nvPr/>
        </p:nvSpPr>
        <p:spPr>
          <a:xfrm>
            <a:off x="658368" y="6510528"/>
            <a:ext cx="10844784" cy="10972"/>
          </a:xfrm>
          <a:prstGeom prst="rect">
            <a:avLst/>
          </a:prstGeom>
          <a:solidFill>
            <a:srgbClr val="315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BFD1D9"/>
                </a:solidFill>
                <a:latin typeface="Segoe UI"/>
              </a:rPr>
              <a:t>Figures reproduced from Blue Lagos Community Baseline Report, sections 3.9 and 5.4.</a:t>
            </a:r>
          </a:p>
        </p:txBody>
      </p:sp>
      <p:sp>
        <p:nvSpPr>
          <p:cNvPr id="16" name="TextBox 15"/>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BFD1D9"/>
                </a:solidFill>
                <a:latin typeface="Segoe UI"/>
              </a:rPr>
              <a:t>BLUE LAGOS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ONE COMMUNITY</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132A38"/>
                </a:solidFill>
                <a:latin typeface="Segoe UI Semibold"/>
              </a:rPr>
              <a:t>Every dot on the map has a different story.</a:t>
            </a:r>
          </a:p>
        </p:txBody>
      </p:sp>
      <p:sp>
        <p:nvSpPr>
          <p:cNvPr id="4" name="TextBox 3"/>
          <p:cNvSpPr txBox="1"/>
          <p:nvPr/>
        </p:nvSpPr>
        <p:spPr>
          <a:xfrm>
            <a:off x="676656" y="1408176"/>
            <a:ext cx="10469880" cy="438912"/>
          </a:xfrm>
          <a:prstGeom prst="rect">
            <a:avLst/>
          </a:prstGeom>
          <a:noFill/>
        </p:spPr>
        <p:txBody>
          <a:bodyPr wrap="square" lIns="0" rIns="0" tIns="0" bIns="0" anchor="t">
            <a:spAutoFit/>
          </a:bodyPr>
          <a:lstStyle/>
          <a:p>
            <a:pPr algn="l">
              <a:spcAft>
                <a:spcPts val="0"/>
              </a:spcAft>
            </a:pPr>
            <a:r>
              <a:rPr sz="1450" b="0">
                <a:solidFill>
                  <a:srgbClr val="60717B"/>
                </a:solidFill>
                <a:latin typeface="Segoe UI"/>
              </a:rPr>
              <a:t>Yegunda Community, Epe</a:t>
            </a:r>
          </a:p>
        </p:txBody>
      </p:sp>
      <p:sp>
        <p:nvSpPr>
          <p:cNvPr id="5" name="TextBox 4"/>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60717B"/>
                </a:solidFill>
                <a:latin typeface="Segoe UI"/>
              </a:rPr>
              <a:t>09</a:t>
            </a:r>
          </a:p>
        </p:txBody>
      </p:sp>
      <p:pic>
        <p:nvPicPr>
          <p:cNvPr id="6" name="Picture 5" descr="yegunda_map.png"/>
          <p:cNvPicPr>
            <a:picLocks noChangeAspect="1"/>
          </p:cNvPicPr>
          <p:nvPr/>
        </p:nvPicPr>
        <p:blipFill>
          <a:blip r:embed="rId2"/>
          <a:stretch>
            <a:fillRect/>
          </a:stretch>
        </p:blipFill>
        <p:spPr>
          <a:xfrm>
            <a:off x="658368" y="1892807"/>
            <a:ext cx="3977639" cy="4187952"/>
          </a:xfrm>
          <a:prstGeom prst="rect">
            <a:avLst/>
          </a:prstGeom>
        </p:spPr>
      </p:pic>
      <p:sp>
        <p:nvSpPr>
          <p:cNvPr id="7" name="Rounded Rectangle 6"/>
          <p:cNvSpPr/>
          <p:nvPr/>
        </p:nvSpPr>
        <p:spPr>
          <a:xfrm>
            <a:off x="4892040" y="1892807"/>
            <a:ext cx="6611112" cy="1033271"/>
          </a:xfrm>
          <a:prstGeom prst="roundRect">
            <a:avLst>
              <a:gd name="adj" fmla="val 8000"/>
            </a:avLst>
          </a:prstGeom>
          <a:solidFill>
            <a:srgbClr val="07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02936" y="2148840"/>
            <a:ext cx="1069848" cy="466344"/>
          </a:xfrm>
          <a:prstGeom prst="rect">
            <a:avLst/>
          </a:prstGeom>
          <a:noFill/>
        </p:spPr>
        <p:txBody>
          <a:bodyPr wrap="square" lIns="0" rIns="0" tIns="0" bIns="0" anchor="t">
            <a:spAutoFit/>
          </a:bodyPr>
          <a:lstStyle/>
          <a:p>
            <a:pPr algn="l">
              <a:spcAft>
                <a:spcPts val="0"/>
              </a:spcAft>
            </a:pPr>
            <a:r>
              <a:rPr sz="2700" b="1">
                <a:solidFill>
                  <a:srgbClr val="67D6CF"/>
                </a:solidFill>
                <a:latin typeface="Segoe UI Semibold"/>
              </a:rPr>
              <a:t>312</a:t>
            </a:r>
          </a:p>
        </p:txBody>
      </p:sp>
      <p:sp>
        <p:nvSpPr>
          <p:cNvPr id="9" name="TextBox 8"/>
          <p:cNvSpPr txBox="1"/>
          <p:nvPr/>
        </p:nvSpPr>
        <p:spPr>
          <a:xfrm>
            <a:off x="6254496" y="2185416"/>
            <a:ext cx="2423160" cy="374904"/>
          </a:xfrm>
          <a:prstGeom prst="rect">
            <a:avLst/>
          </a:prstGeom>
          <a:noFill/>
        </p:spPr>
        <p:txBody>
          <a:bodyPr wrap="square" lIns="0" rIns="0" tIns="0" bIns="0" anchor="t">
            <a:spAutoFit/>
          </a:bodyPr>
          <a:lstStyle/>
          <a:p>
            <a:pPr algn="l">
              <a:spcAft>
                <a:spcPts val="0"/>
              </a:spcAft>
            </a:pPr>
            <a:r>
              <a:rPr sz="1200" b="1">
                <a:solidFill>
                  <a:srgbClr val="FFFFFF"/>
                </a:solidFill>
                <a:latin typeface="Segoe UI"/>
              </a:rPr>
              <a:t>community-reported population</a:t>
            </a:r>
          </a:p>
        </p:txBody>
      </p:sp>
      <p:sp>
        <p:nvSpPr>
          <p:cNvPr id="10" name="TextBox 9"/>
          <p:cNvSpPr txBox="1"/>
          <p:nvPr/>
        </p:nvSpPr>
        <p:spPr>
          <a:xfrm>
            <a:off x="9015984" y="2148840"/>
            <a:ext cx="1408176" cy="228600"/>
          </a:xfrm>
          <a:prstGeom prst="rect">
            <a:avLst/>
          </a:prstGeom>
          <a:noFill/>
        </p:spPr>
        <p:txBody>
          <a:bodyPr wrap="square" lIns="0" rIns="0" tIns="0" bIns="0" anchor="t">
            <a:spAutoFit/>
          </a:bodyPr>
          <a:lstStyle/>
          <a:p>
            <a:pPr algn="l">
              <a:spcAft>
                <a:spcPts val="0"/>
              </a:spcAft>
            </a:pPr>
            <a:r>
              <a:rPr sz="1250" b="1">
                <a:solidFill>
                  <a:srgbClr val="D8B47A"/>
                </a:solidFill>
                <a:latin typeface="Segoe UI"/>
              </a:rPr>
              <a:t>Road + water</a:t>
            </a:r>
          </a:p>
        </p:txBody>
      </p:sp>
      <p:sp>
        <p:nvSpPr>
          <p:cNvPr id="11" name="TextBox 10"/>
          <p:cNvSpPr txBox="1"/>
          <p:nvPr/>
        </p:nvSpPr>
        <p:spPr>
          <a:xfrm>
            <a:off x="9015984" y="2423160"/>
            <a:ext cx="1581912" cy="164592"/>
          </a:xfrm>
          <a:prstGeom prst="rect">
            <a:avLst/>
          </a:prstGeom>
          <a:noFill/>
        </p:spPr>
        <p:txBody>
          <a:bodyPr wrap="square" lIns="0" rIns="0" tIns="0" bIns="0" anchor="t">
            <a:spAutoFit/>
          </a:bodyPr>
          <a:lstStyle/>
          <a:p>
            <a:pPr algn="l">
              <a:spcAft>
                <a:spcPts val="0"/>
              </a:spcAft>
            </a:pPr>
            <a:r>
              <a:rPr sz="950" b="0">
                <a:solidFill>
                  <a:srgbClr val="BFD1D9"/>
                </a:solidFill>
                <a:latin typeface="Segoe UI"/>
              </a:rPr>
              <a:t>primary visit route</a:t>
            </a:r>
          </a:p>
        </p:txBody>
      </p:sp>
      <p:sp>
        <p:nvSpPr>
          <p:cNvPr id="12" name="TextBox 11"/>
          <p:cNvSpPr txBox="1"/>
          <p:nvPr/>
        </p:nvSpPr>
        <p:spPr>
          <a:xfrm>
            <a:off x="5084064" y="3209544"/>
            <a:ext cx="1572768" cy="164592"/>
          </a:xfrm>
          <a:prstGeom prst="rect">
            <a:avLst/>
          </a:prstGeom>
          <a:noFill/>
        </p:spPr>
        <p:txBody>
          <a:bodyPr wrap="square" lIns="0" rIns="0" tIns="0" bIns="0" anchor="t">
            <a:spAutoFit/>
          </a:bodyPr>
          <a:lstStyle/>
          <a:p>
            <a:pPr algn="l">
              <a:spcAft>
                <a:spcPts val="0"/>
              </a:spcAft>
            </a:pPr>
            <a:r>
              <a:rPr sz="919" b="1">
                <a:solidFill>
                  <a:srgbClr val="1A9C91"/>
                </a:solidFill>
                <a:latin typeface="Segoe UI"/>
              </a:rPr>
              <a:t>HEALTH</a:t>
            </a:r>
          </a:p>
        </p:txBody>
      </p:sp>
      <p:sp>
        <p:nvSpPr>
          <p:cNvPr id="13" name="TextBox 12"/>
          <p:cNvSpPr txBox="1"/>
          <p:nvPr/>
        </p:nvSpPr>
        <p:spPr>
          <a:xfrm>
            <a:off x="6729984" y="3182112"/>
            <a:ext cx="4370832" cy="365760"/>
          </a:xfrm>
          <a:prstGeom prst="rect">
            <a:avLst/>
          </a:prstGeom>
          <a:noFill/>
        </p:spPr>
        <p:txBody>
          <a:bodyPr wrap="square" lIns="0" rIns="0" tIns="0" bIns="0" anchor="t">
            <a:spAutoFit/>
          </a:bodyPr>
          <a:lstStyle/>
          <a:p>
            <a:pPr algn="l">
              <a:spcAft>
                <a:spcPts val="0"/>
              </a:spcAft>
            </a:pPr>
            <a:r>
              <a:rPr sz="1150" b="1">
                <a:solidFill>
                  <a:srgbClr val="132A38"/>
                </a:solidFill>
                <a:latin typeface="Segoe UI"/>
              </a:rPr>
              <a:t>No medical evacuation means recorded; traditional first aid</a:t>
            </a:r>
          </a:p>
        </p:txBody>
      </p:sp>
      <p:sp>
        <p:nvSpPr>
          <p:cNvPr id="14" name="TextBox 13"/>
          <p:cNvSpPr txBox="1"/>
          <p:nvPr/>
        </p:nvSpPr>
        <p:spPr>
          <a:xfrm>
            <a:off x="5084064" y="3739896"/>
            <a:ext cx="1572768" cy="164592"/>
          </a:xfrm>
          <a:prstGeom prst="rect">
            <a:avLst/>
          </a:prstGeom>
          <a:noFill/>
        </p:spPr>
        <p:txBody>
          <a:bodyPr wrap="square" lIns="0" rIns="0" tIns="0" bIns="0" anchor="t">
            <a:spAutoFit/>
          </a:bodyPr>
          <a:lstStyle/>
          <a:p>
            <a:pPr algn="l">
              <a:spcAft>
                <a:spcPts val="0"/>
              </a:spcAft>
            </a:pPr>
            <a:r>
              <a:rPr sz="919" b="1">
                <a:solidFill>
                  <a:srgbClr val="1A9C91"/>
                </a:solidFill>
                <a:latin typeface="Segoe UI"/>
              </a:rPr>
              <a:t>WATER + SANITATION</a:t>
            </a:r>
          </a:p>
        </p:txBody>
      </p:sp>
      <p:sp>
        <p:nvSpPr>
          <p:cNvPr id="15" name="TextBox 14"/>
          <p:cNvSpPr txBox="1"/>
          <p:nvPr/>
        </p:nvSpPr>
        <p:spPr>
          <a:xfrm>
            <a:off x="6729984" y="3712463"/>
            <a:ext cx="4370832" cy="365760"/>
          </a:xfrm>
          <a:prstGeom prst="rect">
            <a:avLst/>
          </a:prstGeom>
          <a:noFill/>
        </p:spPr>
        <p:txBody>
          <a:bodyPr wrap="square" lIns="0" rIns="0" tIns="0" bIns="0" anchor="t">
            <a:spAutoFit/>
          </a:bodyPr>
          <a:lstStyle/>
          <a:p>
            <a:pPr algn="l">
              <a:spcAft>
                <a:spcPts val="0"/>
              </a:spcAft>
            </a:pPr>
            <a:r>
              <a:rPr sz="1150" b="1">
                <a:solidFill>
                  <a:srgbClr val="132A38"/>
                </a:solidFill>
                <a:latin typeface="Segoe UI"/>
              </a:rPr>
              <a:t>Well water; open defecation recorded at baseline</a:t>
            </a:r>
          </a:p>
        </p:txBody>
      </p:sp>
      <p:sp>
        <p:nvSpPr>
          <p:cNvPr id="16" name="TextBox 15"/>
          <p:cNvSpPr txBox="1"/>
          <p:nvPr/>
        </p:nvSpPr>
        <p:spPr>
          <a:xfrm>
            <a:off x="5084064" y="4270248"/>
            <a:ext cx="1572768" cy="164592"/>
          </a:xfrm>
          <a:prstGeom prst="rect">
            <a:avLst/>
          </a:prstGeom>
          <a:noFill/>
        </p:spPr>
        <p:txBody>
          <a:bodyPr wrap="square" lIns="0" rIns="0" tIns="0" bIns="0" anchor="t">
            <a:spAutoFit/>
          </a:bodyPr>
          <a:lstStyle/>
          <a:p>
            <a:pPr algn="l">
              <a:spcAft>
                <a:spcPts val="0"/>
              </a:spcAft>
            </a:pPr>
            <a:r>
              <a:rPr sz="919" b="1">
                <a:solidFill>
                  <a:srgbClr val="1A9C91"/>
                </a:solidFill>
                <a:latin typeface="Segoe UI"/>
              </a:rPr>
              <a:t>ENVIRONMENT</a:t>
            </a:r>
          </a:p>
        </p:txBody>
      </p:sp>
      <p:sp>
        <p:nvSpPr>
          <p:cNvPr id="17" name="TextBox 16"/>
          <p:cNvSpPr txBox="1"/>
          <p:nvPr/>
        </p:nvSpPr>
        <p:spPr>
          <a:xfrm>
            <a:off x="6729984" y="4242816"/>
            <a:ext cx="4370832" cy="365760"/>
          </a:xfrm>
          <a:prstGeom prst="rect">
            <a:avLst/>
          </a:prstGeom>
          <a:noFill/>
        </p:spPr>
        <p:txBody>
          <a:bodyPr wrap="square" lIns="0" rIns="0" tIns="0" bIns="0" anchor="t">
            <a:spAutoFit/>
          </a:bodyPr>
          <a:lstStyle/>
          <a:p>
            <a:pPr algn="l">
              <a:spcAft>
                <a:spcPts val="0"/>
              </a:spcAft>
            </a:pPr>
            <a:r>
              <a:rPr sz="1150" b="1">
                <a:solidFill>
                  <a:srgbClr val="132A38"/>
                </a:solidFill>
                <a:latin typeface="Segoe UI"/>
              </a:rPr>
              <a:t>Flood water reported to stagnate for 1–2 weeks</a:t>
            </a:r>
          </a:p>
        </p:txBody>
      </p:sp>
      <p:sp>
        <p:nvSpPr>
          <p:cNvPr id="18" name="TextBox 17"/>
          <p:cNvSpPr txBox="1"/>
          <p:nvPr/>
        </p:nvSpPr>
        <p:spPr>
          <a:xfrm>
            <a:off x="5084064" y="4800600"/>
            <a:ext cx="1572768" cy="164592"/>
          </a:xfrm>
          <a:prstGeom prst="rect">
            <a:avLst/>
          </a:prstGeom>
          <a:noFill/>
        </p:spPr>
        <p:txBody>
          <a:bodyPr wrap="square" lIns="0" rIns="0" tIns="0" bIns="0" anchor="t">
            <a:spAutoFit/>
          </a:bodyPr>
          <a:lstStyle/>
          <a:p>
            <a:pPr algn="l">
              <a:spcAft>
                <a:spcPts val="0"/>
              </a:spcAft>
            </a:pPr>
            <a:r>
              <a:rPr sz="919" b="1">
                <a:solidFill>
                  <a:srgbClr val="1A9C91"/>
                </a:solidFill>
                <a:latin typeface="Segoe UI"/>
              </a:rPr>
              <a:t>ACCESS</a:t>
            </a:r>
          </a:p>
        </p:txBody>
      </p:sp>
      <p:sp>
        <p:nvSpPr>
          <p:cNvPr id="19" name="TextBox 18"/>
          <p:cNvSpPr txBox="1"/>
          <p:nvPr/>
        </p:nvSpPr>
        <p:spPr>
          <a:xfrm>
            <a:off x="6729984" y="4773168"/>
            <a:ext cx="4370832" cy="365760"/>
          </a:xfrm>
          <a:prstGeom prst="rect">
            <a:avLst/>
          </a:prstGeom>
          <a:noFill/>
        </p:spPr>
        <p:txBody>
          <a:bodyPr wrap="square" lIns="0" rIns="0" tIns="0" bIns="0" anchor="t">
            <a:spAutoFit/>
          </a:bodyPr>
          <a:lstStyle/>
          <a:p>
            <a:pPr algn="l">
              <a:spcAft>
                <a:spcPts val="0"/>
              </a:spcAft>
            </a:pPr>
            <a:r>
              <a:rPr sz="1150" b="1">
                <a:solidFill>
                  <a:srgbClr val="132A38"/>
                </a:solidFill>
                <a:latin typeface="Segoe UI"/>
              </a:rPr>
              <a:t>Wooden landing; no mapped marine access point within 5 km</a:t>
            </a:r>
          </a:p>
        </p:txBody>
      </p:sp>
      <p:sp>
        <p:nvSpPr>
          <p:cNvPr id="20" name="TextBox 19"/>
          <p:cNvSpPr txBox="1"/>
          <p:nvPr/>
        </p:nvSpPr>
        <p:spPr>
          <a:xfrm>
            <a:off x="5084064" y="5330952"/>
            <a:ext cx="1572768" cy="164592"/>
          </a:xfrm>
          <a:prstGeom prst="rect">
            <a:avLst/>
          </a:prstGeom>
          <a:noFill/>
        </p:spPr>
        <p:txBody>
          <a:bodyPr wrap="square" lIns="0" rIns="0" tIns="0" bIns="0" anchor="t">
            <a:spAutoFit/>
          </a:bodyPr>
          <a:lstStyle/>
          <a:p>
            <a:pPr algn="l">
              <a:spcAft>
                <a:spcPts val="0"/>
              </a:spcAft>
            </a:pPr>
            <a:r>
              <a:rPr sz="919" b="1">
                <a:solidFill>
                  <a:srgbClr val="D65C55"/>
                </a:solidFill>
                <a:latin typeface="Segoe UI"/>
              </a:rPr>
              <a:t>COMMUNITY REQUEST</a:t>
            </a:r>
          </a:p>
        </p:txBody>
      </p:sp>
      <p:sp>
        <p:nvSpPr>
          <p:cNvPr id="21" name="TextBox 20"/>
          <p:cNvSpPr txBox="1"/>
          <p:nvPr/>
        </p:nvSpPr>
        <p:spPr>
          <a:xfrm>
            <a:off x="6729984" y="5303520"/>
            <a:ext cx="4370832" cy="365760"/>
          </a:xfrm>
          <a:prstGeom prst="rect">
            <a:avLst/>
          </a:prstGeom>
          <a:noFill/>
        </p:spPr>
        <p:txBody>
          <a:bodyPr wrap="square" lIns="0" rIns="0" tIns="0" bIns="0" anchor="t">
            <a:spAutoFit/>
          </a:bodyPr>
          <a:lstStyle/>
          <a:p>
            <a:pPr algn="l">
              <a:spcAft>
                <a:spcPts val="0"/>
              </a:spcAft>
            </a:pPr>
            <a:r>
              <a:rPr sz="1150" b="1">
                <a:solidFill>
                  <a:srgbClr val="132A38"/>
                </a:solidFill>
                <a:latin typeface="Segoe UI"/>
              </a:rPr>
              <a:t>Water, health, education, power and a jetty</a:t>
            </a:r>
          </a:p>
        </p:txBody>
      </p:sp>
      <p:sp>
        <p:nvSpPr>
          <p:cNvPr id="22" name="TextBox 21"/>
          <p:cNvSpPr txBox="1"/>
          <p:nvPr/>
        </p:nvSpPr>
        <p:spPr>
          <a:xfrm>
            <a:off x="5084064" y="5897880"/>
            <a:ext cx="5998464" cy="201168"/>
          </a:xfrm>
          <a:prstGeom prst="rect">
            <a:avLst/>
          </a:prstGeom>
          <a:noFill/>
        </p:spPr>
        <p:txBody>
          <a:bodyPr wrap="square" lIns="0" rIns="0" tIns="0" bIns="0" anchor="t">
            <a:spAutoFit/>
          </a:bodyPr>
          <a:lstStyle/>
          <a:p>
            <a:pPr algn="l">
              <a:spcAft>
                <a:spcPts val="0"/>
              </a:spcAft>
            </a:pPr>
            <a:r>
              <a:rPr sz="1200" b="1">
                <a:solidFill>
                  <a:srgbClr val="075D9C"/>
                </a:solidFill>
                <a:latin typeface="Segoe UI"/>
              </a:rPr>
              <a:t>Baseline conditions show why a practical water intervention matters here.</a:t>
            </a:r>
          </a:p>
        </p:txBody>
      </p:sp>
      <p:sp>
        <p:nvSpPr>
          <p:cNvPr id="23" name="Rectangle 22"/>
          <p:cNvSpPr/>
          <p:nvPr/>
        </p:nvSpPr>
        <p:spPr>
          <a:xfrm>
            <a:off x="658368" y="6510528"/>
            <a:ext cx="10844784" cy="10972"/>
          </a:xfrm>
          <a:prstGeom prst="rect">
            <a:avLst/>
          </a:prstGeom>
          <a:solidFill>
            <a:srgbClr val="CCD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60717B"/>
                </a:solidFill>
                <a:latin typeface="Segoe UI"/>
              </a:rPr>
              <a:t>Sources: Blue Lagos field register and baseline responses; spatial context updated September 2026.</a:t>
            </a:r>
          </a:p>
        </p:txBody>
      </p:sp>
      <p:sp>
        <p:nvSpPr>
          <p:cNvPr id="25" name="TextBox 24"/>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60717B"/>
                </a:solidFill>
                <a:latin typeface="Segoe UI"/>
              </a:rPr>
              <a:t>BLUE LAGOS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WHAT BLUE LAGOS HAS ALREADY DONE</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132A38"/>
                </a:solidFill>
                <a:latin typeface="Segoe UI Semibold"/>
              </a:rPr>
              <a:t>We did not stop at collecting data.</a:t>
            </a:r>
          </a:p>
        </p:txBody>
      </p:sp>
      <p:sp>
        <p:nvSpPr>
          <p:cNvPr id="4" name="TextBox 3"/>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60717B"/>
                </a:solidFill>
                <a:latin typeface="Segoe UI"/>
              </a:rPr>
              <a:t>10</a:t>
            </a:r>
          </a:p>
        </p:txBody>
      </p:sp>
      <p:sp>
        <p:nvSpPr>
          <p:cNvPr id="5" name="Rounded Rectangle 4"/>
          <p:cNvSpPr/>
          <p:nvPr/>
        </p:nvSpPr>
        <p:spPr>
          <a:xfrm>
            <a:off x="658368" y="1600200"/>
            <a:ext cx="3401568" cy="4270248"/>
          </a:xfrm>
          <a:prstGeom prst="roundRect">
            <a:avLst>
              <a:gd name="adj" fmla="val 8000"/>
            </a:avLst>
          </a:prstGeom>
          <a:solidFill>
            <a:srgbClr val="07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p_engage_92_195_332_160.jpg"/>
          <p:cNvPicPr>
            <a:picLocks noChangeAspect="1"/>
          </p:cNvPicPr>
          <p:nvPr/>
        </p:nvPicPr>
        <p:blipFill>
          <a:blip r:embed="rId2"/>
          <a:stretch>
            <a:fillRect/>
          </a:stretch>
        </p:blipFill>
        <p:spPr>
          <a:xfrm>
            <a:off x="841248" y="1783080"/>
            <a:ext cx="3035808" cy="1463040"/>
          </a:xfrm>
          <a:prstGeom prst="rect">
            <a:avLst/>
          </a:prstGeom>
        </p:spPr>
      </p:pic>
      <p:sp>
        <p:nvSpPr>
          <p:cNvPr id="7" name="TextBox 6"/>
          <p:cNvSpPr txBox="1"/>
          <p:nvPr/>
        </p:nvSpPr>
        <p:spPr>
          <a:xfrm>
            <a:off x="932688" y="3493008"/>
            <a:ext cx="2724912" cy="201168"/>
          </a:xfrm>
          <a:prstGeom prst="rect">
            <a:avLst/>
          </a:prstGeom>
          <a:noFill/>
        </p:spPr>
        <p:txBody>
          <a:bodyPr wrap="square" lIns="0" rIns="0" tIns="0" bIns="0" anchor="t">
            <a:spAutoFit/>
          </a:bodyPr>
          <a:lstStyle/>
          <a:p>
            <a:pPr algn="l">
              <a:spcAft>
                <a:spcPts val="0"/>
              </a:spcAft>
            </a:pPr>
            <a:r>
              <a:rPr sz="1000" b="1">
                <a:solidFill>
                  <a:srgbClr val="67D6CF"/>
                </a:solidFill>
                <a:latin typeface="Segoe UI"/>
              </a:rPr>
              <a:t>TELEMEDICINE</a:t>
            </a:r>
          </a:p>
        </p:txBody>
      </p:sp>
      <p:sp>
        <p:nvSpPr>
          <p:cNvPr id="8" name="TextBox 7"/>
          <p:cNvSpPr txBox="1"/>
          <p:nvPr/>
        </p:nvSpPr>
        <p:spPr>
          <a:xfrm>
            <a:off x="932688" y="3822191"/>
            <a:ext cx="1143000" cy="557784"/>
          </a:xfrm>
          <a:prstGeom prst="rect">
            <a:avLst/>
          </a:prstGeom>
          <a:noFill/>
        </p:spPr>
        <p:txBody>
          <a:bodyPr wrap="square" lIns="0" rIns="0" tIns="0" bIns="0" anchor="t">
            <a:spAutoFit/>
          </a:bodyPr>
          <a:lstStyle/>
          <a:p>
            <a:pPr algn="l">
              <a:spcAft>
                <a:spcPts val="0"/>
              </a:spcAft>
            </a:pPr>
            <a:r>
              <a:rPr sz="3000" b="1">
                <a:solidFill>
                  <a:srgbClr val="FFFFFF"/>
                </a:solidFill>
                <a:latin typeface="Segoe UI Semibold"/>
              </a:rPr>
              <a:t>120</a:t>
            </a:r>
          </a:p>
        </p:txBody>
      </p:sp>
      <p:sp>
        <p:nvSpPr>
          <p:cNvPr id="9" name="TextBox 8"/>
          <p:cNvSpPr txBox="1"/>
          <p:nvPr/>
        </p:nvSpPr>
        <p:spPr>
          <a:xfrm>
            <a:off x="2011680" y="3977639"/>
            <a:ext cx="1435608" cy="265176"/>
          </a:xfrm>
          <a:prstGeom prst="rect">
            <a:avLst/>
          </a:prstGeom>
          <a:noFill/>
        </p:spPr>
        <p:txBody>
          <a:bodyPr wrap="square" lIns="0" rIns="0" tIns="0" bIns="0" anchor="t">
            <a:spAutoFit/>
          </a:bodyPr>
          <a:lstStyle/>
          <a:p>
            <a:pPr algn="l">
              <a:spcAft>
                <a:spcPts val="0"/>
              </a:spcAft>
            </a:pPr>
            <a:r>
              <a:rPr sz="1300" b="1">
                <a:solidFill>
                  <a:srgbClr val="FFFFFF"/>
                </a:solidFill>
                <a:latin typeface="Segoe UI"/>
              </a:rPr>
              <a:t>communities</a:t>
            </a:r>
          </a:p>
        </p:txBody>
      </p:sp>
      <p:sp>
        <p:nvSpPr>
          <p:cNvPr id="10" name="TextBox 9"/>
          <p:cNvSpPr txBox="1"/>
          <p:nvPr/>
        </p:nvSpPr>
        <p:spPr>
          <a:xfrm>
            <a:off x="932688" y="4645152"/>
            <a:ext cx="2724912" cy="685800"/>
          </a:xfrm>
          <a:prstGeom prst="rect">
            <a:avLst/>
          </a:prstGeom>
          <a:noFill/>
        </p:spPr>
        <p:txBody>
          <a:bodyPr wrap="square" lIns="0" rIns="0" tIns="0" bIns="0" anchor="t">
            <a:spAutoFit/>
          </a:bodyPr>
          <a:lstStyle/>
          <a:p>
            <a:pPr algn="l">
              <a:spcAft>
                <a:spcPts val="0"/>
              </a:spcAft>
            </a:pPr>
            <a:r>
              <a:rPr sz="1400" b="1">
                <a:solidFill>
                  <a:srgbClr val="FFFFFF"/>
                </a:solidFill>
                <a:latin typeface="Segoe UI"/>
              </a:rPr>
              <a:t>Telemedicine support facilitated across riverine communities.</a:t>
            </a:r>
          </a:p>
        </p:txBody>
      </p:sp>
      <p:sp>
        <p:nvSpPr>
          <p:cNvPr id="11" name="REPLACE WITH REAL PHOTO - Solar-powered borehole, Yegunda Community, Epe"/>
          <p:cNvSpPr/>
          <p:nvPr/>
        </p:nvSpPr>
        <p:spPr>
          <a:xfrm>
            <a:off x="4279392" y="1600200"/>
            <a:ext cx="3401568" cy="4270248"/>
          </a:xfrm>
          <a:prstGeom prst="roundRect">
            <a:avLst>
              <a:gd name="adj" fmla="val 8000"/>
            </a:avLst>
          </a:prstGeom>
          <a:solidFill>
            <a:srgbClr val="DCECF2"/>
          </a:solidFill>
          <a:ln w="10160">
            <a:solidFill>
              <a:srgbClr val="075D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89704" y="1810512"/>
            <a:ext cx="2980944" cy="1435608"/>
          </a:xfrm>
          <a:prstGeom prst="roundRect">
            <a:avLst>
              <a:gd name="adj" fmla="val 8000"/>
            </a:avLst>
          </a:prstGeom>
          <a:solidFill>
            <a:srgbClr val="FFFFFF"/>
          </a:solidFill>
          <a:ln w="10160">
            <a:solidFill>
              <a:srgbClr val="9CBC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91456" y="2267712"/>
            <a:ext cx="2377440" cy="512064"/>
          </a:xfrm>
          <a:prstGeom prst="rect">
            <a:avLst/>
          </a:prstGeom>
          <a:noFill/>
        </p:spPr>
        <p:txBody>
          <a:bodyPr wrap="square" lIns="0" rIns="0" tIns="0" bIns="0" anchor="t">
            <a:spAutoFit/>
          </a:bodyPr>
          <a:lstStyle/>
          <a:p>
            <a:pPr algn="ctr">
              <a:spcAft>
                <a:spcPts val="0"/>
              </a:spcAft>
            </a:pPr>
            <a:r>
              <a:rPr sz="1200" b="1">
                <a:solidFill>
                  <a:srgbClr val="075D9C"/>
                </a:solidFill>
                <a:latin typeface="Segoe UI"/>
              </a:rPr>
              <a:t>INSERT YEGUNDA SOLAR
BOREHOLE FIELD PHOTO</a:t>
            </a:r>
          </a:p>
        </p:txBody>
      </p:sp>
      <p:sp>
        <p:nvSpPr>
          <p:cNvPr id="14" name="TextBox 13"/>
          <p:cNvSpPr txBox="1"/>
          <p:nvPr/>
        </p:nvSpPr>
        <p:spPr>
          <a:xfrm>
            <a:off x="4590288" y="3493008"/>
            <a:ext cx="2724912" cy="201168"/>
          </a:xfrm>
          <a:prstGeom prst="rect">
            <a:avLst/>
          </a:prstGeom>
          <a:noFill/>
        </p:spPr>
        <p:txBody>
          <a:bodyPr wrap="square" lIns="0" rIns="0" tIns="0" bIns="0" anchor="t">
            <a:spAutoFit/>
          </a:bodyPr>
          <a:lstStyle/>
          <a:p>
            <a:pPr algn="l">
              <a:spcAft>
                <a:spcPts val="0"/>
              </a:spcAft>
            </a:pPr>
            <a:r>
              <a:rPr sz="1000" b="1">
                <a:solidFill>
                  <a:srgbClr val="2D8A67"/>
                </a:solidFill>
                <a:latin typeface="Segoe UI"/>
              </a:rPr>
              <a:t>CLEAN WATER</a:t>
            </a:r>
          </a:p>
        </p:txBody>
      </p:sp>
      <p:sp>
        <p:nvSpPr>
          <p:cNvPr id="15" name="TextBox 14"/>
          <p:cNvSpPr txBox="1"/>
          <p:nvPr/>
        </p:nvSpPr>
        <p:spPr>
          <a:xfrm>
            <a:off x="4590288" y="3877056"/>
            <a:ext cx="2724912" cy="475488"/>
          </a:xfrm>
          <a:prstGeom prst="rect">
            <a:avLst/>
          </a:prstGeom>
          <a:noFill/>
        </p:spPr>
        <p:txBody>
          <a:bodyPr wrap="square" lIns="0" rIns="0" tIns="0" bIns="0" anchor="t">
            <a:spAutoFit/>
          </a:bodyPr>
          <a:lstStyle/>
          <a:p>
            <a:pPr algn="l">
              <a:spcAft>
                <a:spcPts val="0"/>
              </a:spcAft>
            </a:pPr>
            <a:r>
              <a:rPr sz="1700" b="1">
                <a:solidFill>
                  <a:srgbClr val="132A38"/>
                </a:solidFill>
                <a:latin typeface="Segoe UI Semibold"/>
              </a:rPr>
              <a:t>Yegunda Community, Epe</a:t>
            </a:r>
          </a:p>
        </p:txBody>
      </p:sp>
      <p:sp>
        <p:nvSpPr>
          <p:cNvPr id="16" name="TextBox 15"/>
          <p:cNvSpPr txBox="1"/>
          <p:nvPr/>
        </p:nvSpPr>
        <p:spPr>
          <a:xfrm>
            <a:off x="4590288" y="4645152"/>
            <a:ext cx="2724912" cy="630936"/>
          </a:xfrm>
          <a:prstGeom prst="rect">
            <a:avLst/>
          </a:prstGeom>
          <a:noFill/>
        </p:spPr>
        <p:txBody>
          <a:bodyPr wrap="square" lIns="0" rIns="0" tIns="0" bIns="0" anchor="t">
            <a:spAutoFit/>
          </a:bodyPr>
          <a:lstStyle/>
          <a:p>
            <a:pPr algn="l">
              <a:spcAft>
                <a:spcPts val="0"/>
              </a:spcAft>
            </a:pPr>
            <a:r>
              <a:rPr sz="1350" b="1">
                <a:solidFill>
                  <a:srgbClr val="132A38"/>
                </a:solidFill>
                <a:latin typeface="Segoe UI"/>
              </a:rPr>
              <a:t>Solar-powered borehole donated or facilitated by Blue Lagos.</a:t>
            </a:r>
          </a:p>
        </p:txBody>
      </p:sp>
      <p:sp>
        <p:nvSpPr>
          <p:cNvPr id="17" name="TextBox 16"/>
          <p:cNvSpPr txBox="1"/>
          <p:nvPr/>
        </p:nvSpPr>
        <p:spPr>
          <a:xfrm>
            <a:off x="4590288" y="5513832"/>
            <a:ext cx="2724912" cy="164592"/>
          </a:xfrm>
          <a:prstGeom prst="rect">
            <a:avLst/>
          </a:prstGeom>
          <a:noFill/>
        </p:spPr>
        <p:txBody>
          <a:bodyPr wrap="square" lIns="0" rIns="0" tIns="0" bIns="0" anchor="t">
            <a:spAutoFit/>
          </a:bodyPr>
          <a:lstStyle/>
          <a:p>
            <a:pPr algn="l">
              <a:spcAft>
                <a:spcPts val="0"/>
              </a:spcAft>
            </a:pPr>
            <a:r>
              <a:rPr sz="950" b="0">
                <a:solidFill>
                  <a:srgbClr val="60717B"/>
                </a:solidFill>
                <a:latin typeface="Segoe UI"/>
              </a:rPr>
              <a:t>No beneficiary count claimed</a:t>
            </a:r>
          </a:p>
        </p:txBody>
      </p:sp>
      <p:sp>
        <p:nvSpPr>
          <p:cNvPr id="18" name="Rounded Rectangle 17"/>
          <p:cNvSpPr/>
          <p:nvPr/>
        </p:nvSpPr>
        <p:spPr>
          <a:xfrm>
            <a:off x="7900416" y="1600200"/>
            <a:ext cx="3602736" cy="4270248"/>
          </a:xfrm>
          <a:prstGeom prst="roundRect">
            <a:avLst>
              <a:gd name="adj" fmla="val 8000"/>
            </a:avLst>
          </a:prstGeom>
          <a:solidFill>
            <a:srgbClr val="FFFFFF"/>
          </a:solidFill>
          <a:ln w="10160">
            <a:solidFill>
              <a:srgbClr val="CCD8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rop_banner_884_195_354_160.jpg"/>
          <p:cNvPicPr>
            <a:picLocks noChangeAspect="1"/>
          </p:cNvPicPr>
          <p:nvPr/>
        </p:nvPicPr>
        <p:blipFill>
          <a:blip r:embed="rId3"/>
          <a:stretch>
            <a:fillRect/>
          </a:stretch>
        </p:blipFill>
        <p:spPr>
          <a:xfrm>
            <a:off x="8083296" y="1783080"/>
            <a:ext cx="3236976" cy="1463040"/>
          </a:xfrm>
          <a:prstGeom prst="rect">
            <a:avLst/>
          </a:prstGeom>
        </p:spPr>
      </p:pic>
      <p:sp>
        <p:nvSpPr>
          <p:cNvPr id="20" name="TextBox 19"/>
          <p:cNvSpPr txBox="1"/>
          <p:nvPr/>
        </p:nvSpPr>
        <p:spPr>
          <a:xfrm>
            <a:off x="8211312" y="3493008"/>
            <a:ext cx="2816352" cy="201168"/>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CIVIC INCLUSION</a:t>
            </a:r>
          </a:p>
        </p:txBody>
      </p:sp>
      <p:sp>
        <p:nvSpPr>
          <p:cNvPr id="21" name="TextBox 20"/>
          <p:cNvSpPr txBox="1"/>
          <p:nvPr/>
        </p:nvSpPr>
        <p:spPr>
          <a:xfrm>
            <a:off x="8211312" y="3858768"/>
            <a:ext cx="2816352" cy="457200"/>
          </a:xfrm>
          <a:prstGeom prst="rect">
            <a:avLst/>
          </a:prstGeom>
          <a:noFill/>
        </p:spPr>
        <p:txBody>
          <a:bodyPr wrap="square" lIns="0" rIns="0" tIns="0" bIns="0" anchor="t">
            <a:spAutoFit/>
          </a:bodyPr>
          <a:lstStyle/>
          <a:p>
            <a:pPr algn="l">
              <a:spcAft>
                <a:spcPts val="0"/>
              </a:spcAft>
            </a:pPr>
            <a:r>
              <a:rPr sz="1700" b="1">
                <a:solidFill>
                  <a:srgbClr val="132A38"/>
                </a:solidFill>
                <a:latin typeface="Segoe UI Semibold"/>
              </a:rPr>
              <a:t>PVC registration support</a:t>
            </a:r>
          </a:p>
        </p:txBody>
      </p:sp>
      <p:sp>
        <p:nvSpPr>
          <p:cNvPr id="22" name="TextBox 21"/>
          <p:cNvSpPr txBox="1"/>
          <p:nvPr/>
        </p:nvSpPr>
        <p:spPr>
          <a:xfrm>
            <a:off x="8211312" y="4645152"/>
            <a:ext cx="2816352" cy="777240"/>
          </a:xfrm>
          <a:prstGeom prst="rect">
            <a:avLst/>
          </a:prstGeom>
          <a:noFill/>
        </p:spPr>
        <p:txBody>
          <a:bodyPr wrap="square" lIns="0" rIns="0" tIns="0" bIns="0" anchor="t">
            <a:spAutoFit/>
          </a:bodyPr>
          <a:lstStyle/>
          <a:p>
            <a:pPr algn="l">
              <a:spcAft>
                <a:spcPts val="0"/>
              </a:spcAft>
            </a:pPr>
            <a:r>
              <a:rPr sz="1350" b="1">
                <a:solidFill>
                  <a:srgbClr val="132A38"/>
                </a:solidFill>
                <a:latin typeface="Segoe UI"/>
              </a:rPr>
              <a:t>Facilitated in selected communities to support fuller participation in civic processes.</a:t>
            </a:r>
          </a:p>
        </p:txBody>
      </p:sp>
      <p:sp>
        <p:nvSpPr>
          <p:cNvPr id="23" name="Rounded Rectangle 22"/>
          <p:cNvSpPr/>
          <p:nvPr/>
        </p:nvSpPr>
        <p:spPr>
          <a:xfrm>
            <a:off x="658368" y="5998464"/>
            <a:ext cx="10844784" cy="347472"/>
          </a:xfrm>
          <a:prstGeom prst="roundRect">
            <a:avLst>
              <a:gd name="adj" fmla="val 8000"/>
            </a:avLst>
          </a:prstGeom>
          <a:solidFill>
            <a:srgbClr val="07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6080760"/>
            <a:ext cx="10332720" cy="164592"/>
          </a:xfrm>
          <a:prstGeom prst="rect">
            <a:avLst/>
          </a:prstGeom>
          <a:noFill/>
        </p:spPr>
        <p:txBody>
          <a:bodyPr wrap="square" lIns="0" rIns="0" tIns="0" bIns="0" anchor="t">
            <a:spAutoFit/>
          </a:bodyPr>
          <a:lstStyle/>
          <a:p>
            <a:pPr algn="ctr">
              <a:spcAft>
                <a:spcPts val="0"/>
              </a:spcAft>
            </a:pPr>
            <a:r>
              <a:rPr sz="1150" b="1">
                <a:solidFill>
                  <a:srgbClr val="FFFFFF"/>
                </a:solidFill>
                <a:latin typeface="Segoe UI"/>
              </a:rPr>
              <a:t>The field register is not just for reporting. It can help direct action.</a:t>
            </a:r>
          </a:p>
        </p:txBody>
      </p:sp>
      <p:sp>
        <p:nvSpPr>
          <p:cNvPr id="25" name="Rectangle 24"/>
          <p:cNvSpPr/>
          <p:nvPr/>
        </p:nvSpPr>
        <p:spPr>
          <a:xfrm>
            <a:off x="658368" y="6510528"/>
            <a:ext cx="10844784" cy="10972"/>
          </a:xfrm>
          <a:prstGeom prst="rect">
            <a:avLst/>
          </a:prstGeom>
          <a:solidFill>
            <a:srgbClr val="CCD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60717B"/>
                </a:solidFill>
                <a:latin typeface="Segoe UI"/>
              </a:rPr>
              <a:t>Source: Blue Lagos programme records. No telemedicine, borehole or PVC beneficiary count is inferred beyond the stated facts.</a:t>
            </a:r>
          </a:p>
        </p:txBody>
      </p:sp>
      <p:sp>
        <p:nvSpPr>
          <p:cNvPr id="27" name="TextBox 26"/>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60717B"/>
                </a:solidFill>
                <a:latin typeface="Segoe UI"/>
              </a:rPr>
              <a:t>BLUE LAGOS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FROM FIELDWORK TO THE COMMUNITY MAP</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132A38"/>
                </a:solidFill>
                <a:latin typeface="Segoe UI Semibold"/>
              </a:rPr>
              <a:t>We needed one place to connect all of this evidence.</a:t>
            </a:r>
          </a:p>
        </p:txBody>
      </p:sp>
      <p:sp>
        <p:nvSpPr>
          <p:cNvPr id="4" name="TextBox 3"/>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60717B"/>
                </a:solidFill>
                <a:latin typeface="Segoe UI"/>
              </a:rPr>
              <a:t>11</a:t>
            </a:r>
          </a:p>
        </p:txBody>
      </p:sp>
      <p:sp>
        <p:nvSpPr>
          <p:cNvPr id="5" name="Rounded Rectangle 4"/>
          <p:cNvSpPr/>
          <p:nvPr/>
        </p:nvSpPr>
        <p:spPr>
          <a:xfrm>
            <a:off x="749808" y="1499616"/>
            <a:ext cx="1664208" cy="320040"/>
          </a:xfrm>
          <a:prstGeom prst="roundRect">
            <a:avLst>
              <a:gd name="adj" fmla="val 8000"/>
            </a:avLst>
          </a:prstGeom>
          <a:solidFill>
            <a:srgbClr val="DD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1563624"/>
            <a:ext cx="1463040" cy="164592"/>
          </a:xfrm>
          <a:prstGeom prst="rect">
            <a:avLst/>
          </a:prstGeom>
          <a:noFill/>
        </p:spPr>
        <p:txBody>
          <a:bodyPr wrap="square" lIns="0" rIns="0" tIns="0" bIns="0" anchor="t">
            <a:spAutoFit/>
          </a:bodyPr>
          <a:lstStyle/>
          <a:p>
            <a:pPr algn="ctr">
              <a:spcAft>
                <a:spcPts val="0"/>
              </a:spcAft>
            </a:pPr>
            <a:r>
              <a:rPr sz="950" b="1">
                <a:solidFill>
                  <a:srgbClr val="1A9C91"/>
                </a:solidFill>
                <a:latin typeface="Segoe UI"/>
              </a:rPr>
              <a:t>Communities</a:t>
            </a:r>
          </a:p>
        </p:txBody>
      </p:sp>
      <p:sp>
        <p:nvSpPr>
          <p:cNvPr id="7" name="Rounded Rectangle 6"/>
          <p:cNvSpPr/>
          <p:nvPr/>
        </p:nvSpPr>
        <p:spPr>
          <a:xfrm>
            <a:off x="2642615" y="1499616"/>
            <a:ext cx="1664208" cy="320040"/>
          </a:xfrm>
          <a:prstGeom prst="roundRect">
            <a:avLst>
              <a:gd name="adj" fmla="val 8000"/>
            </a:avLst>
          </a:prstGeom>
          <a:solidFill>
            <a:srgbClr val="DC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199" y="1563624"/>
            <a:ext cx="1463040" cy="164592"/>
          </a:xfrm>
          <a:prstGeom prst="rect">
            <a:avLst/>
          </a:prstGeom>
          <a:noFill/>
        </p:spPr>
        <p:txBody>
          <a:bodyPr wrap="square" lIns="0" rIns="0" tIns="0" bIns="0" anchor="t">
            <a:spAutoFit/>
          </a:bodyPr>
          <a:lstStyle/>
          <a:p>
            <a:pPr algn="ctr">
              <a:spcAft>
                <a:spcPts val="0"/>
              </a:spcAft>
            </a:pPr>
            <a:r>
              <a:rPr sz="950" b="1">
                <a:solidFill>
                  <a:srgbClr val="1A9C91"/>
                </a:solidFill>
                <a:latin typeface="Segoe UI"/>
              </a:rPr>
              <a:t>Needs</a:t>
            </a:r>
          </a:p>
        </p:txBody>
      </p:sp>
      <p:sp>
        <p:nvSpPr>
          <p:cNvPr id="9" name="Rounded Rectangle 8"/>
          <p:cNvSpPr/>
          <p:nvPr/>
        </p:nvSpPr>
        <p:spPr>
          <a:xfrm>
            <a:off x="4535424" y="1499616"/>
            <a:ext cx="1664208" cy="320040"/>
          </a:xfrm>
          <a:prstGeom prst="roundRect">
            <a:avLst>
              <a:gd name="adj" fmla="val 8000"/>
            </a:avLst>
          </a:prstGeom>
          <a:solidFill>
            <a:srgbClr val="DD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8" y="1563624"/>
            <a:ext cx="1463040" cy="164592"/>
          </a:xfrm>
          <a:prstGeom prst="rect">
            <a:avLst/>
          </a:prstGeom>
          <a:noFill/>
        </p:spPr>
        <p:txBody>
          <a:bodyPr wrap="square" lIns="0" rIns="0" tIns="0" bIns="0" anchor="t">
            <a:spAutoFit/>
          </a:bodyPr>
          <a:lstStyle/>
          <a:p>
            <a:pPr algn="ctr">
              <a:spcAft>
                <a:spcPts val="0"/>
              </a:spcAft>
            </a:pPr>
            <a:r>
              <a:rPr sz="950" b="1">
                <a:solidFill>
                  <a:srgbClr val="075D9C"/>
                </a:solidFill>
                <a:latin typeface="Segoe UI"/>
              </a:rPr>
              <a:t>Access</a:t>
            </a:r>
          </a:p>
        </p:txBody>
      </p:sp>
      <p:sp>
        <p:nvSpPr>
          <p:cNvPr id="11" name="Rounded Rectangle 10"/>
          <p:cNvSpPr/>
          <p:nvPr/>
        </p:nvSpPr>
        <p:spPr>
          <a:xfrm>
            <a:off x="6428231" y="1499616"/>
            <a:ext cx="1664208" cy="320040"/>
          </a:xfrm>
          <a:prstGeom prst="roundRect">
            <a:avLst>
              <a:gd name="adj" fmla="val 8000"/>
            </a:avLst>
          </a:prstGeom>
          <a:solidFill>
            <a:srgbClr val="DC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1563624"/>
            <a:ext cx="1463040" cy="164592"/>
          </a:xfrm>
          <a:prstGeom prst="rect">
            <a:avLst/>
          </a:prstGeom>
          <a:noFill/>
        </p:spPr>
        <p:txBody>
          <a:bodyPr wrap="square" lIns="0" rIns="0" tIns="0" bIns="0" anchor="t">
            <a:spAutoFit/>
          </a:bodyPr>
          <a:lstStyle/>
          <a:p>
            <a:pPr algn="ctr">
              <a:spcAft>
                <a:spcPts val="0"/>
              </a:spcAft>
            </a:pPr>
            <a:r>
              <a:rPr sz="950" b="1">
                <a:solidFill>
                  <a:srgbClr val="1A9C91"/>
                </a:solidFill>
                <a:latin typeface="Segoe UI"/>
              </a:rPr>
              <a:t>Environment</a:t>
            </a:r>
          </a:p>
        </p:txBody>
      </p:sp>
      <p:sp>
        <p:nvSpPr>
          <p:cNvPr id="13" name="Rounded Rectangle 12"/>
          <p:cNvSpPr/>
          <p:nvPr/>
        </p:nvSpPr>
        <p:spPr>
          <a:xfrm>
            <a:off x="8321040" y="1499616"/>
            <a:ext cx="1664208" cy="320040"/>
          </a:xfrm>
          <a:prstGeom prst="roundRect">
            <a:avLst>
              <a:gd name="adj" fmla="val 8000"/>
            </a:avLst>
          </a:prstGeom>
          <a:solidFill>
            <a:srgbClr val="DD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21624" y="1563624"/>
            <a:ext cx="1463040" cy="164592"/>
          </a:xfrm>
          <a:prstGeom prst="rect">
            <a:avLst/>
          </a:prstGeom>
          <a:noFill/>
        </p:spPr>
        <p:txBody>
          <a:bodyPr wrap="square" lIns="0" rIns="0" tIns="0" bIns="0" anchor="t">
            <a:spAutoFit/>
          </a:bodyPr>
          <a:lstStyle/>
          <a:p>
            <a:pPr algn="ctr">
              <a:spcAft>
                <a:spcPts val="0"/>
              </a:spcAft>
            </a:pPr>
            <a:r>
              <a:rPr sz="950" b="1">
                <a:solidFill>
                  <a:srgbClr val="1A9C91"/>
                </a:solidFill>
                <a:latin typeface="Segoe UI"/>
              </a:rPr>
              <a:t>Planning</a:t>
            </a:r>
          </a:p>
        </p:txBody>
      </p:sp>
      <p:sp>
        <p:nvSpPr>
          <p:cNvPr id="15" name="Rounded Rectangle 14"/>
          <p:cNvSpPr/>
          <p:nvPr/>
        </p:nvSpPr>
        <p:spPr>
          <a:xfrm>
            <a:off x="749808" y="1856231"/>
            <a:ext cx="10698480" cy="4279392"/>
          </a:xfrm>
          <a:prstGeom prst="roundRect">
            <a:avLst>
              <a:gd name="adj" fmla="val 8000"/>
            </a:avLst>
          </a:prstGeom>
          <a:solidFill>
            <a:srgbClr val="FFFFFF"/>
          </a:solidFill>
          <a:ln w="10160">
            <a:solidFill>
              <a:srgbClr val="AFC1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9808" y="1856231"/>
            <a:ext cx="10698480" cy="475488"/>
          </a:xfrm>
          <a:prstGeom prst="roundRect">
            <a:avLst>
              <a:gd name="adj" fmla="val 8000"/>
            </a:avLst>
          </a:prstGeom>
          <a:solidFill>
            <a:srgbClr val="07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Official Blue Lagos logo extracted from baseline report" descr="blue_lagos_logo.png"/>
          <p:cNvPicPr>
            <a:picLocks noChangeAspect="1"/>
          </p:cNvPicPr>
          <p:nvPr/>
        </p:nvPicPr>
        <p:blipFill>
          <a:blip r:embed="rId2"/>
          <a:stretch>
            <a:fillRect/>
          </a:stretch>
        </p:blipFill>
        <p:spPr>
          <a:xfrm>
            <a:off x="941832" y="1956816"/>
            <a:ext cx="960120" cy="463715"/>
          </a:xfrm>
          <a:prstGeom prst="rect">
            <a:avLst/>
          </a:prstGeom>
        </p:spPr>
      </p:pic>
      <p:sp>
        <p:nvSpPr>
          <p:cNvPr id="18" name="TextBox 17"/>
          <p:cNvSpPr txBox="1"/>
          <p:nvPr/>
        </p:nvSpPr>
        <p:spPr>
          <a:xfrm>
            <a:off x="4498848" y="2011680"/>
            <a:ext cx="1078992" cy="164592"/>
          </a:xfrm>
          <a:prstGeom prst="rect">
            <a:avLst/>
          </a:prstGeom>
          <a:noFill/>
        </p:spPr>
        <p:txBody>
          <a:bodyPr wrap="square" lIns="0" rIns="0" tIns="0" bIns="0" anchor="t">
            <a:spAutoFit/>
          </a:bodyPr>
          <a:lstStyle/>
          <a:p>
            <a:pPr algn="ctr">
              <a:spcAft>
                <a:spcPts val="0"/>
              </a:spcAft>
            </a:pPr>
            <a:r>
              <a:rPr sz="850" b="0">
                <a:solidFill>
                  <a:srgbClr val="BFD1D9"/>
                </a:solidFill>
                <a:latin typeface="Segoe UI"/>
              </a:rPr>
              <a:t>Overview</a:t>
            </a:r>
          </a:p>
        </p:txBody>
      </p:sp>
      <p:sp>
        <p:nvSpPr>
          <p:cNvPr id="19" name="TextBox 18"/>
          <p:cNvSpPr txBox="1"/>
          <p:nvPr/>
        </p:nvSpPr>
        <p:spPr>
          <a:xfrm>
            <a:off x="5660136" y="2011680"/>
            <a:ext cx="1078992" cy="164592"/>
          </a:xfrm>
          <a:prstGeom prst="rect">
            <a:avLst/>
          </a:prstGeom>
          <a:noFill/>
        </p:spPr>
        <p:txBody>
          <a:bodyPr wrap="square" lIns="0" rIns="0" tIns="0" bIns="0" anchor="t">
            <a:spAutoFit/>
          </a:bodyPr>
          <a:lstStyle/>
          <a:p>
            <a:pPr algn="ctr">
              <a:spcAft>
                <a:spcPts val="0"/>
              </a:spcAft>
            </a:pPr>
            <a:r>
              <a:rPr sz="850" b="1">
                <a:solidFill>
                  <a:srgbClr val="67D6CF"/>
                </a:solidFill>
                <a:latin typeface="Segoe UI"/>
              </a:rPr>
              <a:t>Community Map</a:t>
            </a:r>
          </a:p>
        </p:txBody>
      </p:sp>
      <p:sp>
        <p:nvSpPr>
          <p:cNvPr id="20" name="TextBox 19"/>
          <p:cNvSpPr txBox="1"/>
          <p:nvPr/>
        </p:nvSpPr>
        <p:spPr>
          <a:xfrm>
            <a:off x="6821424" y="2011680"/>
            <a:ext cx="1078992" cy="164592"/>
          </a:xfrm>
          <a:prstGeom prst="rect">
            <a:avLst/>
          </a:prstGeom>
          <a:noFill/>
        </p:spPr>
        <p:txBody>
          <a:bodyPr wrap="square" lIns="0" rIns="0" tIns="0" bIns="0" anchor="t">
            <a:spAutoFit/>
          </a:bodyPr>
          <a:lstStyle/>
          <a:p>
            <a:pPr algn="ctr">
              <a:spcAft>
                <a:spcPts val="0"/>
              </a:spcAft>
            </a:pPr>
            <a:r>
              <a:rPr sz="850" b="0">
                <a:solidFill>
                  <a:srgbClr val="BFD1D9"/>
                </a:solidFill>
                <a:latin typeface="Segoe UI"/>
              </a:rPr>
              <a:t>Priorities</a:t>
            </a:r>
          </a:p>
        </p:txBody>
      </p:sp>
      <p:sp>
        <p:nvSpPr>
          <p:cNvPr id="21" name="TextBox 20"/>
          <p:cNvSpPr txBox="1"/>
          <p:nvPr/>
        </p:nvSpPr>
        <p:spPr>
          <a:xfrm>
            <a:off x="7982712" y="2011680"/>
            <a:ext cx="1078992" cy="164592"/>
          </a:xfrm>
          <a:prstGeom prst="rect">
            <a:avLst/>
          </a:prstGeom>
          <a:noFill/>
        </p:spPr>
        <p:txBody>
          <a:bodyPr wrap="square" lIns="0" rIns="0" tIns="0" bIns="0" anchor="t">
            <a:spAutoFit/>
          </a:bodyPr>
          <a:lstStyle/>
          <a:p>
            <a:pPr algn="ctr">
              <a:spcAft>
                <a:spcPts val="0"/>
              </a:spcAft>
            </a:pPr>
            <a:r>
              <a:rPr sz="850" b="0">
                <a:solidFill>
                  <a:srgbClr val="BFD1D9"/>
                </a:solidFill>
                <a:latin typeface="Segoe UI"/>
              </a:rPr>
              <a:t>Scenarios</a:t>
            </a:r>
          </a:p>
        </p:txBody>
      </p:sp>
      <p:sp>
        <p:nvSpPr>
          <p:cNvPr id="22" name="Rounded Rectangle 21"/>
          <p:cNvSpPr/>
          <p:nvPr/>
        </p:nvSpPr>
        <p:spPr>
          <a:xfrm>
            <a:off x="960120" y="2542032"/>
            <a:ext cx="2057400" cy="3246120"/>
          </a:xfrm>
          <a:prstGeom prst="roundRect">
            <a:avLst>
              <a:gd name="adj" fmla="val 8000"/>
            </a:avLst>
          </a:prstGeom>
          <a:solidFill>
            <a:srgbClr val="F6F1E7"/>
          </a:solidFill>
          <a:ln w="10160">
            <a:solidFill>
              <a:srgbClr val="CCD8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70432" y="2761488"/>
            <a:ext cx="1600200" cy="201168"/>
          </a:xfrm>
          <a:prstGeom prst="rect">
            <a:avLst/>
          </a:prstGeom>
          <a:noFill/>
        </p:spPr>
        <p:txBody>
          <a:bodyPr wrap="square" lIns="0" rIns="0" tIns="0" bIns="0" anchor="t">
            <a:spAutoFit/>
          </a:bodyPr>
          <a:lstStyle/>
          <a:p>
            <a:pPr algn="l">
              <a:spcAft>
                <a:spcPts val="0"/>
              </a:spcAft>
            </a:pPr>
            <a:r>
              <a:rPr sz="950" b="1">
                <a:solidFill>
                  <a:srgbClr val="1A9C91"/>
                </a:solidFill>
                <a:latin typeface="Segoe UI"/>
              </a:rPr>
              <a:t>LAYER THE EVIDENCE</a:t>
            </a:r>
          </a:p>
        </p:txBody>
      </p:sp>
      <p:sp>
        <p:nvSpPr>
          <p:cNvPr id="24" name="Rounded Rectangle 23"/>
          <p:cNvSpPr/>
          <p:nvPr/>
        </p:nvSpPr>
        <p:spPr>
          <a:xfrm>
            <a:off x="1161288" y="3154680"/>
            <a:ext cx="265176" cy="155448"/>
          </a:xfrm>
          <a:prstGeom prst="roundRect">
            <a:avLst>
              <a:gd name="adj" fmla="val 8000"/>
            </a:avLst>
          </a:prstGeom>
          <a:solidFill>
            <a:srgbClr val="1A9C91"/>
          </a:solidFill>
          <a:ln w="10160">
            <a:solidFill>
              <a:srgbClr val="1A9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79576" y="3140964"/>
            <a:ext cx="228600" cy="164592"/>
          </a:xfrm>
          <a:prstGeom prst="rect">
            <a:avLst/>
          </a:prstGeom>
          <a:noFill/>
        </p:spPr>
        <p:txBody>
          <a:bodyPr wrap="square" lIns="0" rIns="0" tIns="0" bIns="0" anchor="t">
            <a:spAutoFit/>
          </a:bodyPr>
          <a:lstStyle/>
          <a:p>
            <a:pPr algn="ctr">
              <a:spcAft>
                <a:spcPts val="0"/>
              </a:spcAft>
            </a:pPr>
            <a:r>
              <a:rPr sz="850" b="1">
                <a:solidFill>
                  <a:srgbClr val="FFFFFF"/>
                </a:solidFill>
                <a:latin typeface="Segoe UI"/>
              </a:rPr>
              <a:t>✓</a:t>
            </a:r>
          </a:p>
        </p:txBody>
      </p:sp>
      <p:sp>
        <p:nvSpPr>
          <p:cNvPr id="26" name="TextBox 25"/>
          <p:cNvSpPr txBox="1"/>
          <p:nvPr/>
        </p:nvSpPr>
        <p:spPr>
          <a:xfrm>
            <a:off x="1536192" y="3131820"/>
            <a:ext cx="1252728" cy="228600"/>
          </a:xfrm>
          <a:prstGeom prst="rect">
            <a:avLst/>
          </a:prstGeom>
          <a:noFill/>
        </p:spPr>
        <p:txBody>
          <a:bodyPr wrap="square" lIns="0" rIns="0" tIns="0" bIns="0" anchor="t">
            <a:spAutoFit/>
          </a:bodyPr>
          <a:lstStyle/>
          <a:p>
            <a:pPr algn="l">
              <a:spcAft>
                <a:spcPts val="0"/>
              </a:spcAft>
            </a:pPr>
            <a:r>
              <a:rPr sz="950" b="0">
                <a:solidFill>
                  <a:srgbClr val="132A38"/>
                </a:solidFill>
                <a:latin typeface="Segoe UI"/>
              </a:rPr>
              <a:t>Surveyed communities</a:t>
            </a:r>
          </a:p>
        </p:txBody>
      </p:sp>
      <p:sp>
        <p:nvSpPr>
          <p:cNvPr id="27" name="Rounded Rectangle 26"/>
          <p:cNvSpPr/>
          <p:nvPr/>
        </p:nvSpPr>
        <p:spPr>
          <a:xfrm>
            <a:off x="1161288" y="3547872"/>
            <a:ext cx="265176" cy="155448"/>
          </a:xfrm>
          <a:prstGeom prst="roundRect">
            <a:avLst>
              <a:gd name="adj" fmla="val 8000"/>
            </a:avLst>
          </a:prstGeom>
          <a:solidFill>
            <a:srgbClr val="1A9C91"/>
          </a:solidFill>
          <a:ln w="10160">
            <a:solidFill>
              <a:srgbClr val="1A9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79576" y="3534156"/>
            <a:ext cx="228600" cy="164592"/>
          </a:xfrm>
          <a:prstGeom prst="rect">
            <a:avLst/>
          </a:prstGeom>
          <a:noFill/>
        </p:spPr>
        <p:txBody>
          <a:bodyPr wrap="square" lIns="0" rIns="0" tIns="0" bIns="0" anchor="t">
            <a:spAutoFit/>
          </a:bodyPr>
          <a:lstStyle/>
          <a:p>
            <a:pPr algn="ctr">
              <a:spcAft>
                <a:spcPts val="0"/>
              </a:spcAft>
            </a:pPr>
            <a:r>
              <a:rPr sz="850" b="1">
                <a:solidFill>
                  <a:srgbClr val="FFFFFF"/>
                </a:solidFill>
                <a:latin typeface="Segoe UI"/>
              </a:rPr>
              <a:t>✓</a:t>
            </a:r>
          </a:p>
        </p:txBody>
      </p:sp>
      <p:sp>
        <p:nvSpPr>
          <p:cNvPr id="29" name="TextBox 28"/>
          <p:cNvSpPr txBox="1"/>
          <p:nvPr/>
        </p:nvSpPr>
        <p:spPr>
          <a:xfrm>
            <a:off x="1536192" y="3525012"/>
            <a:ext cx="1252728" cy="228600"/>
          </a:xfrm>
          <a:prstGeom prst="rect">
            <a:avLst/>
          </a:prstGeom>
          <a:noFill/>
        </p:spPr>
        <p:txBody>
          <a:bodyPr wrap="square" lIns="0" rIns="0" tIns="0" bIns="0" anchor="t">
            <a:spAutoFit/>
          </a:bodyPr>
          <a:lstStyle/>
          <a:p>
            <a:pPr algn="l">
              <a:spcAft>
                <a:spcPts val="0"/>
              </a:spcAft>
            </a:pPr>
            <a:r>
              <a:rPr sz="950" b="0">
                <a:solidFill>
                  <a:srgbClr val="132A38"/>
                </a:solidFill>
                <a:latin typeface="Segoe UI"/>
              </a:rPr>
              <a:t>LGA boundaries</a:t>
            </a:r>
          </a:p>
        </p:txBody>
      </p:sp>
      <p:sp>
        <p:nvSpPr>
          <p:cNvPr id="30" name="Rounded Rectangle 29"/>
          <p:cNvSpPr/>
          <p:nvPr/>
        </p:nvSpPr>
        <p:spPr>
          <a:xfrm>
            <a:off x="1161288" y="3941064"/>
            <a:ext cx="265176" cy="155448"/>
          </a:xfrm>
          <a:prstGeom prst="roundRect">
            <a:avLst>
              <a:gd name="adj" fmla="val 8000"/>
            </a:avLst>
          </a:prstGeom>
          <a:solidFill>
            <a:srgbClr val="1A9C91"/>
          </a:solidFill>
          <a:ln w="10160">
            <a:solidFill>
              <a:srgbClr val="1A9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79576" y="3927348"/>
            <a:ext cx="228600" cy="164592"/>
          </a:xfrm>
          <a:prstGeom prst="rect">
            <a:avLst/>
          </a:prstGeom>
          <a:noFill/>
        </p:spPr>
        <p:txBody>
          <a:bodyPr wrap="square" lIns="0" rIns="0" tIns="0" bIns="0" anchor="t">
            <a:spAutoFit/>
          </a:bodyPr>
          <a:lstStyle/>
          <a:p>
            <a:pPr algn="ctr">
              <a:spcAft>
                <a:spcPts val="0"/>
              </a:spcAft>
            </a:pPr>
            <a:r>
              <a:rPr sz="850" b="1">
                <a:solidFill>
                  <a:srgbClr val="FFFFFF"/>
                </a:solidFill>
                <a:latin typeface="Segoe UI"/>
              </a:rPr>
              <a:t>✓</a:t>
            </a:r>
          </a:p>
        </p:txBody>
      </p:sp>
      <p:sp>
        <p:nvSpPr>
          <p:cNvPr id="32" name="TextBox 31"/>
          <p:cNvSpPr txBox="1"/>
          <p:nvPr/>
        </p:nvSpPr>
        <p:spPr>
          <a:xfrm>
            <a:off x="1536192" y="3918204"/>
            <a:ext cx="1252728" cy="228600"/>
          </a:xfrm>
          <a:prstGeom prst="rect">
            <a:avLst/>
          </a:prstGeom>
          <a:noFill/>
        </p:spPr>
        <p:txBody>
          <a:bodyPr wrap="square" lIns="0" rIns="0" tIns="0" bIns="0" anchor="t">
            <a:spAutoFit/>
          </a:bodyPr>
          <a:lstStyle/>
          <a:p>
            <a:pPr algn="l">
              <a:spcAft>
                <a:spcPts val="0"/>
              </a:spcAft>
            </a:pPr>
            <a:r>
              <a:rPr sz="950" b="0">
                <a:solidFill>
                  <a:srgbClr val="132A38"/>
                </a:solidFill>
                <a:latin typeface="Segoe UI"/>
              </a:rPr>
              <a:t>Waterways</a:t>
            </a:r>
          </a:p>
        </p:txBody>
      </p:sp>
      <p:sp>
        <p:nvSpPr>
          <p:cNvPr id="33" name="Rounded Rectangle 32"/>
          <p:cNvSpPr/>
          <p:nvPr/>
        </p:nvSpPr>
        <p:spPr>
          <a:xfrm>
            <a:off x="1161288" y="4334256"/>
            <a:ext cx="265176" cy="155448"/>
          </a:xfrm>
          <a:prstGeom prst="roundRect">
            <a:avLst>
              <a:gd name="adj" fmla="val 8000"/>
            </a:avLst>
          </a:prstGeom>
          <a:solidFill>
            <a:srgbClr val="1A9C91"/>
          </a:solidFill>
          <a:ln w="10160">
            <a:solidFill>
              <a:srgbClr val="1A9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79576" y="4320540"/>
            <a:ext cx="228600" cy="164592"/>
          </a:xfrm>
          <a:prstGeom prst="rect">
            <a:avLst/>
          </a:prstGeom>
          <a:noFill/>
        </p:spPr>
        <p:txBody>
          <a:bodyPr wrap="square" lIns="0" rIns="0" tIns="0" bIns="0" anchor="t">
            <a:spAutoFit/>
          </a:bodyPr>
          <a:lstStyle/>
          <a:p>
            <a:pPr algn="ctr">
              <a:spcAft>
                <a:spcPts val="0"/>
              </a:spcAft>
            </a:pPr>
            <a:r>
              <a:rPr sz="850" b="1">
                <a:solidFill>
                  <a:srgbClr val="FFFFFF"/>
                </a:solidFill>
                <a:latin typeface="Segoe UI"/>
              </a:rPr>
              <a:t>✓</a:t>
            </a:r>
          </a:p>
        </p:txBody>
      </p:sp>
      <p:sp>
        <p:nvSpPr>
          <p:cNvPr id="35" name="TextBox 34"/>
          <p:cNvSpPr txBox="1"/>
          <p:nvPr/>
        </p:nvSpPr>
        <p:spPr>
          <a:xfrm>
            <a:off x="1536192" y="4311396"/>
            <a:ext cx="1252728" cy="228600"/>
          </a:xfrm>
          <a:prstGeom prst="rect">
            <a:avLst/>
          </a:prstGeom>
          <a:noFill/>
        </p:spPr>
        <p:txBody>
          <a:bodyPr wrap="square" lIns="0" rIns="0" tIns="0" bIns="0" anchor="t">
            <a:spAutoFit/>
          </a:bodyPr>
          <a:lstStyle/>
          <a:p>
            <a:pPr algn="l">
              <a:spcAft>
                <a:spcPts val="0"/>
              </a:spcAft>
            </a:pPr>
            <a:r>
              <a:rPr sz="950" b="0">
                <a:solidFill>
                  <a:srgbClr val="132A38"/>
                </a:solidFill>
                <a:latin typeface="Segoe UI"/>
              </a:rPr>
              <a:t>Mapped health facilities</a:t>
            </a:r>
          </a:p>
        </p:txBody>
      </p:sp>
      <p:sp>
        <p:nvSpPr>
          <p:cNvPr id="36" name="Rounded Rectangle 35"/>
          <p:cNvSpPr/>
          <p:nvPr/>
        </p:nvSpPr>
        <p:spPr>
          <a:xfrm>
            <a:off x="1161288" y="4727448"/>
            <a:ext cx="265176" cy="155448"/>
          </a:xfrm>
          <a:prstGeom prst="roundRect">
            <a:avLst>
              <a:gd name="adj" fmla="val 8000"/>
            </a:avLst>
          </a:prstGeom>
          <a:solidFill>
            <a:srgbClr val="FFFFFF"/>
          </a:solidFill>
          <a:ln w="10160">
            <a:solidFill>
              <a:srgbClr val="1A9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36192" y="4704588"/>
            <a:ext cx="1252728" cy="228600"/>
          </a:xfrm>
          <a:prstGeom prst="rect">
            <a:avLst/>
          </a:prstGeom>
          <a:noFill/>
        </p:spPr>
        <p:txBody>
          <a:bodyPr wrap="square" lIns="0" rIns="0" tIns="0" bIns="0" anchor="t">
            <a:spAutoFit/>
          </a:bodyPr>
          <a:lstStyle/>
          <a:p>
            <a:pPr algn="l">
              <a:spcAft>
                <a:spcPts val="0"/>
              </a:spcAft>
            </a:pPr>
            <a:r>
              <a:rPr sz="950" b="0">
                <a:solidFill>
                  <a:srgbClr val="132A38"/>
                </a:solidFill>
                <a:latin typeface="Segoe UI"/>
              </a:rPr>
              <a:t>Marine access</a:t>
            </a:r>
          </a:p>
        </p:txBody>
      </p:sp>
      <p:sp>
        <p:nvSpPr>
          <p:cNvPr id="38" name="Rounded Rectangle 37"/>
          <p:cNvSpPr/>
          <p:nvPr/>
        </p:nvSpPr>
        <p:spPr>
          <a:xfrm>
            <a:off x="1161288" y="5120640"/>
            <a:ext cx="265176" cy="155448"/>
          </a:xfrm>
          <a:prstGeom prst="roundRect">
            <a:avLst>
              <a:gd name="adj" fmla="val 8000"/>
            </a:avLst>
          </a:prstGeom>
          <a:solidFill>
            <a:srgbClr val="FFFFFF"/>
          </a:solidFill>
          <a:ln w="10160">
            <a:solidFill>
              <a:srgbClr val="1A9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36192" y="5097779"/>
            <a:ext cx="1252728" cy="228600"/>
          </a:xfrm>
          <a:prstGeom prst="rect">
            <a:avLst/>
          </a:prstGeom>
          <a:noFill/>
        </p:spPr>
        <p:txBody>
          <a:bodyPr wrap="square" lIns="0" rIns="0" tIns="0" bIns="0" anchor="t">
            <a:spAutoFit/>
          </a:bodyPr>
          <a:lstStyle/>
          <a:p>
            <a:pPr algn="l">
              <a:spcAft>
                <a:spcPts val="0"/>
              </a:spcAft>
            </a:pPr>
            <a:r>
              <a:rPr sz="950" b="0">
                <a:solidFill>
                  <a:srgbClr val="132A38"/>
                </a:solidFill>
                <a:latin typeface="Segoe UI"/>
              </a:rPr>
              <a:t>Community priorities</a:t>
            </a:r>
          </a:p>
        </p:txBody>
      </p:sp>
      <p:pic>
        <p:nvPicPr>
          <p:cNvPr id="40" name="Picture 39" descr="coverage_map.png"/>
          <p:cNvPicPr>
            <a:picLocks noChangeAspect="1"/>
          </p:cNvPicPr>
          <p:nvPr/>
        </p:nvPicPr>
        <p:blipFill>
          <a:blip r:embed="rId3"/>
          <a:stretch>
            <a:fillRect/>
          </a:stretch>
        </p:blipFill>
        <p:spPr>
          <a:xfrm>
            <a:off x="3246120" y="2542032"/>
            <a:ext cx="6016752" cy="3246120"/>
          </a:xfrm>
          <a:prstGeom prst="rect">
            <a:avLst/>
          </a:prstGeom>
        </p:spPr>
      </p:pic>
      <p:sp>
        <p:nvSpPr>
          <p:cNvPr id="41" name="Rounded Rectangle 40"/>
          <p:cNvSpPr/>
          <p:nvPr/>
        </p:nvSpPr>
        <p:spPr>
          <a:xfrm>
            <a:off x="9464040" y="2542032"/>
            <a:ext cx="1691640" cy="3246120"/>
          </a:xfrm>
          <a:prstGeom prst="roundRect">
            <a:avLst>
              <a:gd name="adj" fmla="val 8000"/>
            </a:avLst>
          </a:prstGeom>
          <a:solidFill>
            <a:srgbClr val="DC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65208" y="2761488"/>
            <a:ext cx="1289304" cy="182880"/>
          </a:xfrm>
          <a:prstGeom prst="rect">
            <a:avLst/>
          </a:prstGeom>
          <a:noFill/>
        </p:spPr>
        <p:txBody>
          <a:bodyPr wrap="square" lIns="0" rIns="0" tIns="0" bIns="0" anchor="t">
            <a:spAutoFit/>
          </a:bodyPr>
          <a:lstStyle/>
          <a:p>
            <a:pPr algn="l">
              <a:spcAft>
                <a:spcPts val="0"/>
              </a:spcAft>
            </a:pPr>
            <a:r>
              <a:rPr sz="950" b="1">
                <a:solidFill>
                  <a:srgbClr val="075D9C"/>
                </a:solidFill>
                <a:latin typeface="Segoe UI"/>
              </a:rPr>
              <a:t>COMMUNITY</a:t>
            </a:r>
          </a:p>
        </p:txBody>
      </p:sp>
      <p:sp>
        <p:nvSpPr>
          <p:cNvPr id="43" name="TextBox 42"/>
          <p:cNvSpPr txBox="1"/>
          <p:nvPr/>
        </p:nvSpPr>
        <p:spPr>
          <a:xfrm>
            <a:off x="9665208" y="3063240"/>
            <a:ext cx="1289304" cy="292608"/>
          </a:xfrm>
          <a:prstGeom prst="rect">
            <a:avLst/>
          </a:prstGeom>
          <a:noFill/>
        </p:spPr>
        <p:txBody>
          <a:bodyPr wrap="square" lIns="0" rIns="0" tIns="0" bIns="0" anchor="t">
            <a:spAutoFit/>
          </a:bodyPr>
          <a:lstStyle/>
          <a:p>
            <a:pPr algn="l">
              <a:spcAft>
                <a:spcPts val="0"/>
              </a:spcAft>
            </a:pPr>
            <a:r>
              <a:rPr sz="1700" b="1">
                <a:solidFill>
                  <a:srgbClr val="132A38"/>
                </a:solidFill>
                <a:latin typeface="Segoe UI Semibold"/>
              </a:rPr>
              <a:t>Yegunda</a:t>
            </a:r>
          </a:p>
        </p:txBody>
      </p:sp>
      <p:sp>
        <p:nvSpPr>
          <p:cNvPr id="44" name="TextBox 43"/>
          <p:cNvSpPr txBox="1"/>
          <p:nvPr/>
        </p:nvSpPr>
        <p:spPr>
          <a:xfrm>
            <a:off x="9665208" y="3502152"/>
            <a:ext cx="1261872" cy="1170432"/>
          </a:xfrm>
          <a:prstGeom prst="rect">
            <a:avLst/>
          </a:prstGeom>
          <a:noFill/>
        </p:spPr>
        <p:txBody>
          <a:bodyPr wrap="square" lIns="0" rIns="0" tIns="0" bIns="0" anchor="t">
            <a:spAutoFit/>
          </a:bodyPr>
          <a:lstStyle/>
          <a:p>
            <a:pPr algn="l">
              <a:spcAft>
                <a:spcPts val="0"/>
              </a:spcAft>
            </a:pPr>
            <a:r>
              <a:rPr sz="1000" b="0">
                <a:solidFill>
                  <a:srgbClr val="60717B"/>
                </a:solidFill>
                <a:latin typeface="Segoe UI"/>
              </a:rPr>
              <a:t>Epe
Road + water access
Priority: water, health, education, power, jetty</a:t>
            </a:r>
          </a:p>
        </p:txBody>
      </p:sp>
      <p:sp>
        <p:nvSpPr>
          <p:cNvPr id="45" name="Rounded Rectangle 44"/>
          <p:cNvSpPr/>
          <p:nvPr/>
        </p:nvSpPr>
        <p:spPr>
          <a:xfrm>
            <a:off x="9665208" y="5084064"/>
            <a:ext cx="1197864" cy="384048"/>
          </a:xfrm>
          <a:prstGeom prst="roundRect">
            <a:avLst>
              <a:gd name="adj" fmla="val 8000"/>
            </a:avLst>
          </a:prstGeom>
          <a:solidFill>
            <a:srgbClr val="075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38360" y="5193792"/>
            <a:ext cx="1051560" cy="146304"/>
          </a:xfrm>
          <a:prstGeom prst="rect">
            <a:avLst/>
          </a:prstGeom>
          <a:noFill/>
        </p:spPr>
        <p:txBody>
          <a:bodyPr wrap="square" lIns="0" rIns="0" tIns="0" bIns="0" anchor="t">
            <a:spAutoFit/>
          </a:bodyPr>
          <a:lstStyle/>
          <a:p>
            <a:pPr algn="ctr">
              <a:spcAft>
                <a:spcPts val="0"/>
              </a:spcAft>
            </a:pPr>
            <a:r>
              <a:rPr sz="850" b="1">
                <a:solidFill>
                  <a:srgbClr val="FFFFFF"/>
                </a:solidFill>
                <a:latin typeface="Segoe UI"/>
              </a:rPr>
              <a:t>Open profile</a:t>
            </a:r>
          </a:p>
        </p:txBody>
      </p:sp>
      <p:sp>
        <p:nvSpPr>
          <p:cNvPr id="47" name="TextBox 46"/>
          <p:cNvSpPr txBox="1"/>
          <p:nvPr/>
        </p:nvSpPr>
        <p:spPr>
          <a:xfrm>
            <a:off x="896112" y="5907024"/>
            <a:ext cx="4572000" cy="146304"/>
          </a:xfrm>
          <a:prstGeom prst="rect">
            <a:avLst/>
          </a:prstGeom>
          <a:noFill/>
        </p:spPr>
        <p:txBody>
          <a:bodyPr wrap="square" lIns="0" rIns="0" tIns="0" bIns="0" anchor="t">
            <a:spAutoFit/>
          </a:bodyPr>
          <a:lstStyle/>
          <a:p>
            <a:pPr algn="l">
              <a:spcAft>
                <a:spcPts val="0"/>
              </a:spcAft>
            </a:pPr>
            <a:r>
              <a:rPr sz="850" b="0">
                <a:solidFill>
                  <a:srgbClr val="60717B"/>
                </a:solidFill>
                <a:latin typeface="Segoe UI"/>
              </a:rPr>
              <a:t>Editable illustration of the current application interface</a:t>
            </a:r>
          </a:p>
        </p:txBody>
      </p:sp>
      <p:sp>
        <p:nvSpPr>
          <p:cNvPr id="48" name="Rectangle 47"/>
          <p:cNvSpPr/>
          <p:nvPr/>
        </p:nvSpPr>
        <p:spPr>
          <a:xfrm>
            <a:off x="658368" y="6510528"/>
            <a:ext cx="10844784" cy="10972"/>
          </a:xfrm>
          <a:prstGeom prst="rect">
            <a:avLst/>
          </a:prstGeom>
          <a:solidFill>
            <a:srgbClr val="CCD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60717B"/>
                </a:solidFill>
                <a:latin typeface="Segoe UI"/>
              </a:rPr>
              <a:t>Blue Lagos Community Map: current application capabilities shown as an editable presentation mockup.</a:t>
            </a:r>
          </a:p>
        </p:txBody>
      </p:sp>
      <p:sp>
        <p:nvSpPr>
          <p:cNvPr id="50" name="TextBox 49"/>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60717B"/>
                </a:solidFill>
                <a:latin typeface="Segoe UI"/>
              </a:rPr>
              <a:t>BLUE LAGOS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C2C"/>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67D6CF"/>
                </a:solidFill>
                <a:latin typeface="Segoe UI"/>
              </a:rPr>
              <a:t>PLANNING SHARED SERVICES</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FFFFFF"/>
                </a:solidFill>
                <a:latin typeface="Segoe UI Semibold"/>
              </a:rPr>
              <a:t>Some interventions can serve several communities together.</a:t>
            </a:r>
          </a:p>
        </p:txBody>
      </p:sp>
      <p:sp>
        <p:nvSpPr>
          <p:cNvPr id="4" name="TextBox 3"/>
          <p:cNvSpPr txBox="1"/>
          <p:nvPr/>
        </p:nvSpPr>
        <p:spPr>
          <a:xfrm>
            <a:off x="676656" y="1408176"/>
            <a:ext cx="10469880" cy="438912"/>
          </a:xfrm>
          <a:prstGeom prst="rect">
            <a:avLst/>
          </a:prstGeom>
          <a:noFill/>
        </p:spPr>
        <p:txBody>
          <a:bodyPr wrap="square" lIns="0" rIns="0" tIns="0" bIns="0" anchor="t">
            <a:spAutoFit/>
          </a:bodyPr>
          <a:lstStyle/>
          <a:p>
            <a:pPr algn="l">
              <a:spcAft>
                <a:spcPts val="0"/>
              </a:spcAft>
            </a:pPr>
            <a:r>
              <a:rPr sz="1450" b="0">
                <a:solidFill>
                  <a:srgbClr val="BFD1D9"/>
                </a:solidFill>
                <a:latin typeface="Segoe UI"/>
              </a:rPr>
              <a:t>Nearby communities with similar needs can be screened around one possible intervention location.</a:t>
            </a:r>
          </a:p>
        </p:txBody>
      </p:sp>
      <p:sp>
        <p:nvSpPr>
          <p:cNvPr id="5" name="TextBox 4"/>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BFD1D9"/>
                </a:solidFill>
                <a:latin typeface="Segoe UI"/>
              </a:rPr>
              <a:t>12</a:t>
            </a:r>
          </a:p>
        </p:txBody>
      </p:sp>
      <p:pic>
        <p:nvPicPr>
          <p:cNvPr id="6" name="Picture 5" descr="service_cluster.png"/>
          <p:cNvPicPr>
            <a:picLocks noChangeAspect="1"/>
          </p:cNvPicPr>
          <p:nvPr/>
        </p:nvPicPr>
        <p:blipFill>
          <a:blip r:embed="rId2"/>
          <a:stretch>
            <a:fillRect/>
          </a:stretch>
        </p:blipFill>
        <p:spPr>
          <a:xfrm>
            <a:off x="658368" y="1901952"/>
            <a:ext cx="6931152" cy="4187952"/>
          </a:xfrm>
          <a:prstGeom prst="rect">
            <a:avLst/>
          </a:prstGeom>
        </p:spPr>
      </p:pic>
      <p:sp>
        <p:nvSpPr>
          <p:cNvPr id="7" name="Rounded Rectangle 6"/>
          <p:cNvSpPr/>
          <p:nvPr/>
        </p:nvSpPr>
        <p:spPr>
          <a:xfrm>
            <a:off x="7882127" y="1901952"/>
            <a:ext cx="3621024" cy="4187952"/>
          </a:xfrm>
          <a:prstGeom prst="roundRect">
            <a:avLst>
              <a:gd name="adj" fmla="val 8000"/>
            </a:avLst>
          </a:prstGeom>
          <a:solidFill>
            <a:srgbClr val="0D2D42"/>
          </a:solidFill>
          <a:ln w="10160">
            <a:solidFill>
              <a:srgbClr val="315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93024" y="2194560"/>
            <a:ext cx="2670048" cy="192024"/>
          </a:xfrm>
          <a:prstGeom prst="rect">
            <a:avLst/>
          </a:prstGeom>
          <a:noFill/>
        </p:spPr>
        <p:txBody>
          <a:bodyPr wrap="square" lIns="0" rIns="0" tIns="0" bIns="0" anchor="t">
            <a:spAutoFit/>
          </a:bodyPr>
          <a:lstStyle/>
          <a:p>
            <a:pPr algn="l">
              <a:spcAft>
                <a:spcPts val="0"/>
              </a:spcAft>
            </a:pPr>
            <a:r>
              <a:rPr sz="950" b="1">
                <a:solidFill>
                  <a:srgbClr val="67D6CF"/>
                </a:solidFill>
                <a:latin typeface="Segoe UI"/>
              </a:rPr>
              <a:t>ACTUAL REGISTER SCREEN</a:t>
            </a:r>
          </a:p>
        </p:txBody>
      </p:sp>
      <p:sp>
        <p:nvSpPr>
          <p:cNvPr id="9" name="TextBox 8"/>
          <p:cNvSpPr txBox="1"/>
          <p:nvPr/>
        </p:nvSpPr>
        <p:spPr>
          <a:xfrm>
            <a:off x="8193024" y="2606040"/>
            <a:ext cx="1005840" cy="548640"/>
          </a:xfrm>
          <a:prstGeom prst="rect">
            <a:avLst/>
          </a:prstGeom>
          <a:noFill/>
        </p:spPr>
        <p:txBody>
          <a:bodyPr wrap="square" lIns="0" rIns="0" tIns="0" bIns="0" anchor="t">
            <a:spAutoFit/>
          </a:bodyPr>
          <a:lstStyle/>
          <a:p>
            <a:pPr algn="l">
              <a:spcAft>
                <a:spcPts val="0"/>
              </a:spcAft>
            </a:pPr>
            <a:r>
              <a:rPr sz="3100" b="1">
                <a:solidFill>
                  <a:srgbClr val="D8B47A"/>
                </a:solidFill>
                <a:latin typeface="Segoe UI Semibold"/>
              </a:rPr>
              <a:t>11</a:t>
            </a:r>
          </a:p>
        </p:txBody>
      </p:sp>
      <p:sp>
        <p:nvSpPr>
          <p:cNvPr id="10" name="TextBox 9"/>
          <p:cNvSpPr txBox="1"/>
          <p:nvPr/>
        </p:nvSpPr>
        <p:spPr>
          <a:xfrm>
            <a:off x="9153144" y="2688336"/>
            <a:ext cx="1847088" cy="384048"/>
          </a:xfrm>
          <a:prstGeom prst="rect">
            <a:avLst/>
          </a:prstGeom>
          <a:noFill/>
        </p:spPr>
        <p:txBody>
          <a:bodyPr wrap="square" lIns="0" rIns="0" tIns="0" bIns="0" anchor="t">
            <a:spAutoFit/>
          </a:bodyPr>
          <a:lstStyle/>
          <a:p>
            <a:pPr algn="l">
              <a:spcAft>
                <a:spcPts val="0"/>
              </a:spcAft>
            </a:pPr>
            <a:r>
              <a:rPr sz="1300" b="1">
                <a:solidFill>
                  <a:srgbClr val="FFFFFF"/>
                </a:solidFill>
                <a:latin typeface="Segoe UI"/>
              </a:rPr>
              <a:t>communities within 5 km</a:t>
            </a:r>
          </a:p>
        </p:txBody>
      </p:sp>
      <p:sp>
        <p:nvSpPr>
          <p:cNvPr id="11" name="TextBox 10"/>
          <p:cNvSpPr txBox="1"/>
          <p:nvPr/>
        </p:nvSpPr>
        <p:spPr>
          <a:xfrm>
            <a:off x="8193024" y="3538728"/>
            <a:ext cx="2304288" cy="530352"/>
          </a:xfrm>
          <a:prstGeom prst="rect">
            <a:avLst/>
          </a:prstGeom>
          <a:noFill/>
        </p:spPr>
        <p:txBody>
          <a:bodyPr wrap="square" lIns="0" rIns="0" tIns="0" bIns="0" anchor="t">
            <a:spAutoFit/>
          </a:bodyPr>
          <a:lstStyle/>
          <a:p>
            <a:pPr algn="l">
              <a:spcAft>
                <a:spcPts val="0"/>
              </a:spcAft>
            </a:pPr>
            <a:r>
              <a:rPr sz="2700" b="1">
                <a:solidFill>
                  <a:srgbClr val="67D6CF"/>
                </a:solidFill>
                <a:latin typeface="Segoe UI Semibold"/>
              </a:rPr>
              <a:t>75,242</a:t>
            </a:r>
          </a:p>
        </p:txBody>
      </p:sp>
      <p:sp>
        <p:nvSpPr>
          <p:cNvPr id="12" name="TextBox 11"/>
          <p:cNvSpPr txBox="1"/>
          <p:nvPr/>
        </p:nvSpPr>
        <p:spPr>
          <a:xfrm>
            <a:off x="8193024" y="4105656"/>
            <a:ext cx="2670048" cy="612648"/>
          </a:xfrm>
          <a:prstGeom prst="rect">
            <a:avLst/>
          </a:prstGeom>
          <a:noFill/>
        </p:spPr>
        <p:txBody>
          <a:bodyPr wrap="square" lIns="0" rIns="0" tIns="0" bIns="0" anchor="t">
            <a:spAutoFit/>
          </a:bodyPr>
          <a:lstStyle/>
          <a:p>
            <a:pPr algn="l">
              <a:spcAft>
                <a:spcPts val="0"/>
              </a:spcAft>
            </a:pPr>
            <a:r>
              <a:rPr sz="1200" b="1">
                <a:solidFill>
                  <a:srgbClr val="FFFFFF"/>
                </a:solidFill>
                <a:latin typeface="Segoe UI"/>
              </a:rPr>
              <a:t>community-reported population in the radius</a:t>
            </a:r>
          </a:p>
        </p:txBody>
      </p:sp>
      <p:sp>
        <p:nvSpPr>
          <p:cNvPr id="13" name="TextBox 12"/>
          <p:cNvSpPr txBox="1"/>
          <p:nvPr/>
        </p:nvSpPr>
        <p:spPr>
          <a:xfrm>
            <a:off x="8193024" y="4946904"/>
            <a:ext cx="2697480" cy="429768"/>
          </a:xfrm>
          <a:prstGeom prst="rect">
            <a:avLst/>
          </a:prstGeom>
          <a:noFill/>
        </p:spPr>
        <p:txBody>
          <a:bodyPr wrap="square" lIns="0" rIns="0" tIns="0" bIns="0" anchor="t">
            <a:spAutoFit/>
          </a:bodyPr>
          <a:lstStyle/>
          <a:p>
            <a:pPr algn="l">
              <a:spcAft>
                <a:spcPts val="0"/>
              </a:spcAft>
            </a:pPr>
            <a:r>
              <a:rPr sz="1050" b="1">
                <a:solidFill>
                  <a:srgbClr val="BFD1D9"/>
                </a:solidFill>
                <a:latin typeface="Segoe UI"/>
              </a:rPr>
              <a:t>Candidate point: Ito Agan community location</a:t>
            </a:r>
          </a:p>
        </p:txBody>
      </p:sp>
      <p:sp>
        <p:nvSpPr>
          <p:cNvPr id="14" name="TextBox 13"/>
          <p:cNvSpPr txBox="1"/>
          <p:nvPr/>
        </p:nvSpPr>
        <p:spPr>
          <a:xfrm>
            <a:off x="8193024" y="5486400"/>
            <a:ext cx="2697480" cy="384048"/>
          </a:xfrm>
          <a:prstGeom prst="rect">
            <a:avLst/>
          </a:prstGeom>
          <a:noFill/>
        </p:spPr>
        <p:txBody>
          <a:bodyPr wrap="square" lIns="0" rIns="0" tIns="0" bIns="0" anchor="t">
            <a:spAutoFit/>
          </a:bodyPr>
          <a:lstStyle/>
          <a:p>
            <a:pPr algn="l">
              <a:spcAft>
                <a:spcPts val="0"/>
              </a:spcAft>
            </a:pPr>
            <a:r>
              <a:rPr sz="950" b="1">
                <a:solidFill>
                  <a:srgbClr val="D65C55"/>
                </a:solidFill>
                <a:latin typeface="Segoe UI"/>
              </a:rPr>
              <a:t>Planning analysis only. Final sites require land, engineering and government verification.</a:t>
            </a:r>
          </a:p>
        </p:txBody>
      </p:sp>
      <p:sp>
        <p:nvSpPr>
          <p:cNvPr id="15" name="Rectangle 14"/>
          <p:cNvSpPr/>
          <p:nvPr/>
        </p:nvSpPr>
        <p:spPr>
          <a:xfrm>
            <a:off x="658368" y="6510528"/>
            <a:ext cx="10844784" cy="10972"/>
          </a:xfrm>
          <a:prstGeom prst="rect">
            <a:avLst/>
          </a:prstGeom>
          <a:solidFill>
            <a:srgbClr val="315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BFD1D9"/>
                </a:solidFill>
                <a:latin typeface="Segoe UI"/>
              </a:rPr>
              <a:t>Method: 5 km straight-line radius using community coordinates and current register population. No routing or site approval implied.</a:t>
            </a:r>
          </a:p>
        </p:txBody>
      </p:sp>
      <p:sp>
        <p:nvSpPr>
          <p:cNvPr id="17" name="TextBox 16"/>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BFD1D9"/>
                </a:solidFill>
                <a:latin typeface="Segoe UI"/>
              </a:rPr>
              <a:t>BLUE LAGOS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WHAT MORE CAN BE DONE</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132A38"/>
                </a:solidFill>
                <a:latin typeface="Segoe UI Semibold"/>
              </a:rPr>
              <a:t>The next step is to connect evidence directly to service planning.</a:t>
            </a:r>
          </a:p>
        </p:txBody>
      </p:sp>
      <p:sp>
        <p:nvSpPr>
          <p:cNvPr id="4" name="TextBox 3"/>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60717B"/>
                </a:solidFill>
                <a:latin typeface="Segoe UI"/>
              </a:rPr>
              <a:t>13</a:t>
            </a:r>
          </a:p>
        </p:txBody>
      </p:sp>
      <p:sp>
        <p:nvSpPr>
          <p:cNvPr id="5" name="Rounded Rectangle 4"/>
          <p:cNvSpPr/>
          <p:nvPr/>
        </p:nvSpPr>
        <p:spPr>
          <a:xfrm>
            <a:off x="658368" y="1892807"/>
            <a:ext cx="1965960" cy="3611880"/>
          </a:xfrm>
          <a:prstGeom prst="roundRect">
            <a:avLst>
              <a:gd name="adj" fmla="val 8000"/>
            </a:avLst>
          </a:prstGeom>
          <a:solidFill>
            <a:srgbClr val="F6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92807"/>
            <a:ext cx="1965960" cy="91440"/>
          </a:xfrm>
          <a:prstGeom prst="roundRect">
            <a:avLst>
              <a:gd name="adj" fmla="val 8000"/>
            </a:avLst>
          </a:prstGeom>
          <a:solidFill>
            <a:srgbClr val="D65C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267712"/>
            <a:ext cx="1636776" cy="246888"/>
          </a:xfrm>
          <a:prstGeom prst="rect">
            <a:avLst/>
          </a:prstGeom>
          <a:noFill/>
        </p:spPr>
        <p:txBody>
          <a:bodyPr wrap="square" lIns="0" rIns="0" tIns="0" bIns="0" anchor="t">
            <a:spAutoFit/>
          </a:bodyPr>
          <a:lstStyle/>
          <a:p>
            <a:pPr algn="l">
              <a:spcAft>
                <a:spcPts val="0"/>
              </a:spcAft>
            </a:pPr>
            <a:r>
              <a:rPr sz="1100" b="1">
                <a:solidFill>
                  <a:srgbClr val="D65C55"/>
                </a:solidFill>
                <a:latin typeface="Segoe UI"/>
              </a:rPr>
              <a:t>HEALTH</a:t>
            </a:r>
          </a:p>
        </p:txBody>
      </p:sp>
      <p:sp>
        <p:nvSpPr>
          <p:cNvPr id="8" name="TextBox 7"/>
          <p:cNvSpPr txBox="1"/>
          <p:nvPr/>
        </p:nvSpPr>
        <p:spPr>
          <a:xfrm>
            <a:off x="822959" y="2880360"/>
            <a:ext cx="1636776" cy="1481328"/>
          </a:xfrm>
          <a:prstGeom prst="rect">
            <a:avLst/>
          </a:prstGeom>
          <a:noFill/>
        </p:spPr>
        <p:txBody>
          <a:bodyPr wrap="square" lIns="0" rIns="0" tIns="0" bIns="0" anchor="t">
            <a:spAutoFit/>
          </a:bodyPr>
          <a:lstStyle/>
          <a:p>
            <a:pPr algn="l">
              <a:spcAft>
                <a:spcPts val="0"/>
              </a:spcAft>
            </a:pPr>
            <a:r>
              <a:rPr sz="1320" b="1">
                <a:solidFill>
                  <a:srgbClr val="132A38"/>
                </a:solidFill>
                <a:latin typeface="Segoe UI"/>
              </a:rPr>
              <a:t>Riverine care
Emergency points
Telemedicine reach</a:t>
            </a:r>
          </a:p>
        </p:txBody>
      </p:sp>
      <p:sp>
        <p:nvSpPr>
          <p:cNvPr id="9" name="TextBox 8"/>
          <p:cNvSpPr txBox="1"/>
          <p:nvPr/>
        </p:nvSpPr>
        <p:spPr>
          <a:xfrm>
            <a:off x="822959" y="4965192"/>
            <a:ext cx="1636776" cy="256032"/>
          </a:xfrm>
          <a:prstGeom prst="rect">
            <a:avLst/>
          </a:prstGeom>
          <a:noFill/>
        </p:spPr>
        <p:txBody>
          <a:bodyPr wrap="square" lIns="0" rIns="0" tIns="0" bIns="0" anchor="t">
            <a:spAutoFit/>
          </a:bodyPr>
          <a:lstStyle/>
          <a:p>
            <a:pPr algn="l">
              <a:spcAft>
                <a:spcPts val="0"/>
              </a:spcAft>
            </a:pPr>
            <a:r>
              <a:rPr sz="1000" b="1">
                <a:solidFill>
                  <a:srgbClr val="60717B"/>
                </a:solidFill>
                <a:latin typeface="Segoe UI"/>
              </a:rPr>
              <a:t>Target with evidence</a:t>
            </a:r>
          </a:p>
        </p:txBody>
      </p:sp>
      <p:sp>
        <p:nvSpPr>
          <p:cNvPr id="10" name="Rounded Rectangle 9"/>
          <p:cNvSpPr/>
          <p:nvPr/>
        </p:nvSpPr>
        <p:spPr>
          <a:xfrm>
            <a:off x="2852928" y="1892807"/>
            <a:ext cx="1965960" cy="3611880"/>
          </a:xfrm>
          <a:prstGeom prst="roundRect">
            <a:avLst>
              <a:gd name="adj" fmla="val 8000"/>
            </a:avLst>
          </a:prstGeom>
          <a:solidFill>
            <a:srgbClr val="DC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52928" y="1892807"/>
            <a:ext cx="1965960" cy="91440"/>
          </a:xfrm>
          <a:prstGeom prst="roundRect">
            <a:avLst>
              <a:gd name="adj" fmla="val 8000"/>
            </a:avLst>
          </a:prstGeom>
          <a:solidFill>
            <a:srgbClr val="0989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2267712"/>
            <a:ext cx="1636776" cy="246888"/>
          </a:xfrm>
          <a:prstGeom prst="rect">
            <a:avLst/>
          </a:prstGeom>
          <a:noFill/>
        </p:spPr>
        <p:txBody>
          <a:bodyPr wrap="square" lIns="0" rIns="0" tIns="0" bIns="0" anchor="t">
            <a:spAutoFit/>
          </a:bodyPr>
          <a:lstStyle/>
          <a:p>
            <a:pPr algn="l">
              <a:spcAft>
                <a:spcPts val="0"/>
              </a:spcAft>
            </a:pPr>
            <a:r>
              <a:rPr sz="1100" b="1">
                <a:solidFill>
                  <a:srgbClr val="0989C5"/>
                </a:solidFill>
                <a:latin typeface="Segoe UI"/>
              </a:rPr>
              <a:t>WATER</a:t>
            </a:r>
          </a:p>
        </p:txBody>
      </p:sp>
      <p:sp>
        <p:nvSpPr>
          <p:cNvPr id="13" name="TextBox 12"/>
          <p:cNvSpPr txBox="1"/>
          <p:nvPr/>
        </p:nvSpPr>
        <p:spPr>
          <a:xfrm>
            <a:off x="3017520" y="2880360"/>
            <a:ext cx="1636776" cy="1481328"/>
          </a:xfrm>
          <a:prstGeom prst="rect">
            <a:avLst/>
          </a:prstGeom>
          <a:noFill/>
        </p:spPr>
        <p:txBody>
          <a:bodyPr wrap="square" lIns="0" rIns="0" tIns="0" bIns="0" anchor="t">
            <a:spAutoFit/>
          </a:bodyPr>
          <a:lstStyle/>
          <a:p>
            <a:pPr algn="l">
              <a:spcAft>
                <a:spcPts val="0"/>
              </a:spcAft>
            </a:pPr>
            <a:r>
              <a:rPr sz="1320" b="1">
                <a:solidFill>
                  <a:srgbClr val="132A38"/>
                </a:solidFill>
                <a:latin typeface="Segoe UI"/>
              </a:rPr>
              <a:t>Safe water points
Solar boreholes
Sanitation support</a:t>
            </a:r>
          </a:p>
        </p:txBody>
      </p:sp>
      <p:sp>
        <p:nvSpPr>
          <p:cNvPr id="14" name="TextBox 13"/>
          <p:cNvSpPr txBox="1"/>
          <p:nvPr/>
        </p:nvSpPr>
        <p:spPr>
          <a:xfrm>
            <a:off x="3017520" y="4965192"/>
            <a:ext cx="1636776" cy="256032"/>
          </a:xfrm>
          <a:prstGeom prst="rect">
            <a:avLst/>
          </a:prstGeom>
          <a:noFill/>
        </p:spPr>
        <p:txBody>
          <a:bodyPr wrap="square" lIns="0" rIns="0" tIns="0" bIns="0" anchor="t">
            <a:spAutoFit/>
          </a:bodyPr>
          <a:lstStyle/>
          <a:p>
            <a:pPr algn="l">
              <a:spcAft>
                <a:spcPts val="0"/>
              </a:spcAft>
            </a:pPr>
            <a:r>
              <a:rPr sz="1000" b="1">
                <a:solidFill>
                  <a:srgbClr val="60717B"/>
                </a:solidFill>
                <a:latin typeface="Segoe UI"/>
              </a:rPr>
              <a:t>Target with evidence</a:t>
            </a:r>
          </a:p>
        </p:txBody>
      </p:sp>
      <p:sp>
        <p:nvSpPr>
          <p:cNvPr id="15" name="Rounded Rectangle 14"/>
          <p:cNvSpPr/>
          <p:nvPr/>
        </p:nvSpPr>
        <p:spPr>
          <a:xfrm>
            <a:off x="5047488" y="1892807"/>
            <a:ext cx="1965960" cy="3611880"/>
          </a:xfrm>
          <a:prstGeom prst="roundRect">
            <a:avLst>
              <a:gd name="adj" fmla="val 8000"/>
            </a:avLst>
          </a:prstGeom>
          <a:solidFill>
            <a:srgbClr val="F6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47488" y="1892807"/>
            <a:ext cx="1965960" cy="91440"/>
          </a:xfrm>
          <a:prstGeom prst="roundRect">
            <a:avLst>
              <a:gd name="adj" fmla="val 8000"/>
            </a:avLst>
          </a:prstGeom>
          <a:solidFill>
            <a:srgbClr val="1A9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79" y="2267712"/>
            <a:ext cx="1636776" cy="246888"/>
          </a:xfrm>
          <a:prstGeom prst="rect">
            <a:avLst/>
          </a:prstGeom>
          <a:noFill/>
        </p:spPr>
        <p:txBody>
          <a:bodyPr wrap="square" lIns="0" rIns="0" tIns="0" bIns="0" anchor="t">
            <a:spAutoFit/>
          </a:bodyPr>
          <a:lstStyle/>
          <a:p>
            <a:pPr algn="l">
              <a:spcAft>
                <a:spcPts val="0"/>
              </a:spcAft>
            </a:pPr>
            <a:r>
              <a:rPr sz="1100" b="1">
                <a:solidFill>
                  <a:srgbClr val="1A9C91"/>
                </a:solidFill>
                <a:latin typeface="Segoe UI"/>
              </a:rPr>
              <a:t>ACCESS</a:t>
            </a:r>
          </a:p>
        </p:txBody>
      </p:sp>
      <p:sp>
        <p:nvSpPr>
          <p:cNvPr id="18" name="TextBox 17"/>
          <p:cNvSpPr txBox="1"/>
          <p:nvPr/>
        </p:nvSpPr>
        <p:spPr>
          <a:xfrm>
            <a:off x="5212079" y="2880360"/>
            <a:ext cx="1636776" cy="1481328"/>
          </a:xfrm>
          <a:prstGeom prst="rect">
            <a:avLst/>
          </a:prstGeom>
          <a:noFill/>
        </p:spPr>
        <p:txBody>
          <a:bodyPr wrap="square" lIns="0" rIns="0" tIns="0" bIns="0" anchor="t">
            <a:spAutoFit/>
          </a:bodyPr>
          <a:lstStyle/>
          <a:p>
            <a:pPr algn="l">
              <a:spcAft>
                <a:spcPts val="0"/>
              </a:spcAft>
            </a:pPr>
            <a:r>
              <a:rPr sz="1320" b="1">
                <a:solidFill>
                  <a:srgbClr val="132A38"/>
                </a:solidFill>
                <a:latin typeface="Segoe UI"/>
              </a:rPr>
              <a:t>Jetties + landings
Emergency transport
Service connections</a:t>
            </a:r>
          </a:p>
        </p:txBody>
      </p:sp>
      <p:sp>
        <p:nvSpPr>
          <p:cNvPr id="19" name="TextBox 18"/>
          <p:cNvSpPr txBox="1"/>
          <p:nvPr/>
        </p:nvSpPr>
        <p:spPr>
          <a:xfrm>
            <a:off x="5212079" y="4965192"/>
            <a:ext cx="1636776" cy="256032"/>
          </a:xfrm>
          <a:prstGeom prst="rect">
            <a:avLst/>
          </a:prstGeom>
          <a:noFill/>
        </p:spPr>
        <p:txBody>
          <a:bodyPr wrap="square" lIns="0" rIns="0" tIns="0" bIns="0" anchor="t">
            <a:spAutoFit/>
          </a:bodyPr>
          <a:lstStyle/>
          <a:p>
            <a:pPr algn="l">
              <a:spcAft>
                <a:spcPts val="0"/>
              </a:spcAft>
            </a:pPr>
            <a:r>
              <a:rPr sz="1000" b="1">
                <a:solidFill>
                  <a:srgbClr val="60717B"/>
                </a:solidFill>
                <a:latin typeface="Segoe UI"/>
              </a:rPr>
              <a:t>Target with evidence</a:t>
            </a:r>
          </a:p>
        </p:txBody>
      </p:sp>
      <p:sp>
        <p:nvSpPr>
          <p:cNvPr id="20" name="Rounded Rectangle 19"/>
          <p:cNvSpPr/>
          <p:nvPr/>
        </p:nvSpPr>
        <p:spPr>
          <a:xfrm>
            <a:off x="7242047" y="1892807"/>
            <a:ext cx="1965960" cy="3611880"/>
          </a:xfrm>
          <a:prstGeom prst="roundRect">
            <a:avLst>
              <a:gd name="adj" fmla="val 8000"/>
            </a:avLst>
          </a:prstGeom>
          <a:solidFill>
            <a:srgbClr val="DC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42047" y="1892807"/>
            <a:ext cx="1965960" cy="91440"/>
          </a:xfrm>
          <a:prstGeom prst="roundRect">
            <a:avLst>
              <a:gd name="adj" fmla="val 8000"/>
            </a:avLst>
          </a:prstGeom>
          <a:solidFill>
            <a:srgbClr val="D8B4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2267712"/>
            <a:ext cx="1636776" cy="246888"/>
          </a:xfrm>
          <a:prstGeom prst="rect">
            <a:avLst/>
          </a:prstGeom>
          <a:noFill/>
        </p:spPr>
        <p:txBody>
          <a:bodyPr wrap="square" lIns="0" rIns="0" tIns="0" bIns="0" anchor="t">
            <a:spAutoFit/>
          </a:bodyPr>
          <a:lstStyle/>
          <a:p>
            <a:pPr algn="l">
              <a:spcAft>
                <a:spcPts val="0"/>
              </a:spcAft>
            </a:pPr>
            <a:r>
              <a:rPr sz="1100" b="1">
                <a:solidFill>
                  <a:srgbClr val="D8B47A"/>
                </a:solidFill>
                <a:latin typeface="Segoe UI"/>
              </a:rPr>
              <a:t>ENVIRONMENT</a:t>
            </a:r>
          </a:p>
        </p:txBody>
      </p:sp>
      <p:sp>
        <p:nvSpPr>
          <p:cNvPr id="23" name="TextBox 22"/>
          <p:cNvSpPr txBox="1"/>
          <p:nvPr/>
        </p:nvSpPr>
        <p:spPr>
          <a:xfrm>
            <a:off x="7406640" y="2880360"/>
            <a:ext cx="1636776" cy="1481328"/>
          </a:xfrm>
          <a:prstGeom prst="rect">
            <a:avLst/>
          </a:prstGeom>
          <a:noFill/>
        </p:spPr>
        <p:txBody>
          <a:bodyPr wrap="square" lIns="0" rIns="0" tIns="0" bIns="0" anchor="t">
            <a:spAutoFit/>
          </a:bodyPr>
          <a:lstStyle/>
          <a:p>
            <a:pPr algn="l">
              <a:spcAft>
                <a:spcPts val="0"/>
              </a:spcAft>
            </a:pPr>
            <a:r>
              <a:rPr sz="1320" b="1">
                <a:solidFill>
                  <a:srgbClr val="132A38"/>
                </a:solidFill>
                <a:latin typeface="Segoe UI"/>
              </a:rPr>
              <a:t>Flood + erosion monitoring
Shoreline exposure
Restoration targeting</a:t>
            </a:r>
          </a:p>
        </p:txBody>
      </p:sp>
      <p:sp>
        <p:nvSpPr>
          <p:cNvPr id="24" name="TextBox 23"/>
          <p:cNvSpPr txBox="1"/>
          <p:nvPr/>
        </p:nvSpPr>
        <p:spPr>
          <a:xfrm>
            <a:off x="7406640" y="4965192"/>
            <a:ext cx="1636776" cy="256032"/>
          </a:xfrm>
          <a:prstGeom prst="rect">
            <a:avLst/>
          </a:prstGeom>
          <a:noFill/>
        </p:spPr>
        <p:txBody>
          <a:bodyPr wrap="square" lIns="0" rIns="0" tIns="0" bIns="0" anchor="t">
            <a:spAutoFit/>
          </a:bodyPr>
          <a:lstStyle/>
          <a:p>
            <a:pPr algn="l">
              <a:spcAft>
                <a:spcPts val="0"/>
              </a:spcAft>
            </a:pPr>
            <a:r>
              <a:rPr sz="1000" b="1">
                <a:solidFill>
                  <a:srgbClr val="60717B"/>
                </a:solidFill>
                <a:latin typeface="Segoe UI"/>
              </a:rPr>
              <a:t>Target with evidence</a:t>
            </a:r>
          </a:p>
        </p:txBody>
      </p:sp>
      <p:sp>
        <p:nvSpPr>
          <p:cNvPr id="25" name="Rounded Rectangle 24"/>
          <p:cNvSpPr/>
          <p:nvPr/>
        </p:nvSpPr>
        <p:spPr>
          <a:xfrm>
            <a:off x="9436608" y="1892807"/>
            <a:ext cx="1965960" cy="3611880"/>
          </a:xfrm>
          <a:prstGeom prst="roundRect">
            <a:avLst>
              <a:gd name="adj" fmla="val 8000"/>
            </a:avLst>
          </a:prstGeom>
          <a:solidFill>
            <a:srgbClr val="F6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436608" y="1892807"/>
            <a:ext cx="1965960" cy="91440"/>
          </a:xfrm>
          <a:prstGeom prst="roundRect">
            <a:avLst>
              <a:gd name="adj" fmla="val 8000"/>
            </a:avLst>
          </a:prstGeom>
          <a:solidFill>
            <a:srgbClr val="2D8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0" y="2267712"/>
            <a:ext cx="1636776" cy="246888"/>
          </a:xfrm>
          <a:prstGeom prst="rect">
            <a:avLst/>
          </a:prstGeom>
          <a:noFill/>
        </p:spPr>
        <p:txBody>
          <a:bodyPr wrap="square" lIns="0" rIns="0" tIns="0" bIns="0" anchor="t">
            <a:spAutoFit/>
          </a:bodyPr>
          <a:lstStyle/>
          <a:p>
            <a:pPr algn="l">
              <a:spcAft>
                <a:spcPts val="0"/>
              </a:spcAft>
            </a:pPr>
            <a:r>
              <a:rPr sz="1100" b="1">
                <a:solidFill>
                  <a:srgbClr val="2D8A67"/>
                </a:solidFill>
                <a:latin typeface="Segoe UI"/>
              </a:rPr>
              <a:t>LIVELIHOODS</a:t>
            </a:r>
          </a:p>
        </p:txBody>
      </p:sp>
      <p:sp>
        <p:nvSpPr>
          <p:cNvPr id="28" name="TextBox 27"/>
          <p:cNvSpPr txBox="1"/>
          <p:nvPr/>
        </p:nvSpPr>
        <p:spPr>
          <a:xfrm>
            <a:off x="9601200" y="2880360"/>
            <a:ext cx="1636776" cy="1481328"/>
          </a:xfrm>
          <a:prstGeom prst="rect">
            <a:avLst/>
          </a:prstGeom>
          <a:noFill/>
        </p:spPr>
        <p:txBody>
          <a:bodyPr wrap="square" lIns="0" rIns="0" tIns="0" bIns="0" anchor="t">
            <a:spAutoFit/>
          </a:bodyPr>
          <a:lstStyle/>
          <a:p>
            <a:pPr algn="l">
              <a:spcAft>
                <a:spcPts val="0"/>
              </a:spcAft>
            </a:pPr>
            <a:r>
              <a:rPr sz="1320" b="1">
                <a:solidFill>
                  <a:srgbClr val="132A38"/>
                </a:solidFill>
                <a:latin typeface="Segoe UI"/>
              </a:rPr>
              <a:t>Fishing + enterprise
Market access
Energy + digital services</a:t>
            </a:r>
          </a:p>
        </p:txBody>
      </p:sp>
      <p:sp>
        <p:nvSpPr>
          <p:cNvPr id="29" name="TextBox 28"/>
          <p:cNvSpPr txBox="1"/>
          <p:nvPr/>
        </p:nvSpPr>
        <p:spPr>
          <a:xfrm>
            <a:off x="9601200" y="4965192"/>
            <a:ext cx="1636776" cy="256032"/>
          </a:xfrm>
          <a:prstGeom prst="rect">
            <a:avLst/>
          </a:prstGeom>
          <a:noFill/>
        </p:spPr>
        <p:txBody>
          <a:bodyPr wrap="square" lIns="0" rIns="0" tIns="0" bIns="0" anchor="t">
            <a:spAutoFit/>
          </a:bodyPr>
          <a:lstStyle/>
          <a:p>
            <a:pPr algn="l">
              <a:spcAft>
                <a:spcPts val="0"/>
              </a:spcAft>
            </a:pPr>
            <a:r>
              <a:rPr sz="1000" b="1">
                <a:solidFill>
                  <a:srgbClr val="60717B"/>
                </a:solidFill>
                <a:latin typeface="Segoe UI"/>
              </a:rPr>
              <a:t>Target with evidence</a:t>
            </a:r>
          </a:p>
        </p:txBody>
      </p:sp>
      <p:sp>
        <p:nvSpPr>
          <p:cNvPr id="30" name="TextBox 29"/>
          <p:cNvSpPr txBox="1"/>
          <p:nvPr/>
        </p:nvSpPr>
        <p:spPr>
          <a:xfrm>
            <a:off x="1069848" y="5833872"/>
            <a:ext cx="10058400" cy="274320"/>
          </a:xfrm>
          <a:prstGeom prst="rect">
            <a:avLst/>
          </a:prstGeom>
          <a:noFill/>
        </p:spPr>
        <p:txBody>
          <a:bodyPr wrap="square" lIns="0" rIns="0" tIns="0" bIns="0" anchor="t">
            <a:spAutoFit/>
          </a:bodyPr>
          <a:lstStyle/>
          <a:p>
            <a:pPr algn="ctr">
              <a:spcAft>
                <a:spcPts val="0"/>
              </a:spcAft>
            </a:pPr>
            <a:r>
              <a:rPr sz="1500" b="1">
                <a:solidFill>
                  <a:srgbClr val="075D9C"/>
                </a:solidFill>
                <a:latin typeface="Segoe UI"/>
              </a:rPr>
              <a:t>What the evidence can help government, partners and communities target.</a:t>
            </a:r>
          </a:p>
        </p:txBody>
      </p:sp>
      <p:sp>
        <p:nvSpPr>
          <p:cNvPr id="31" name="Rectangle 30"/>
          <p:cNvSpPr/>
          <p:nvPr/>
        </p:nvSpPr>
        <p:spPr>
          <a:xfrm>
            <a:off x="658368" y="6510528"/>
            <a:ext cx="10844784" cy="10972"/>
          </a:xfrm>
          <a:prstGeom prst="rect">
            <a:avLst/>
          </a:prstGeom>
          <a:solidFill>
            <a:srgbClr val="CCD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60717B"/>
                </a:solidFill>
                <a:latin typeface="Segoe UI"/>
              </a:rPr>
              <a:t>Planning opportunities, not Blue Lagos funding commitments or delivery promises.</a:t>
            </a:r>
          </a:p>
        </p:txBody>
      </p:sp>
      <p:sp>
        <p:nvSpPr>
          <p:cNvPr id="33" name="TextBox 32"/>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60717B"/>
                </a:solidFill>
                <a:latin typeface="Segoe UI"/>
              </a:rPr>
              <a:t>BLUE LAGOS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TextBox 1"/>
          <p:cNvSpPr txBox="1"/>
          <p:nvPr/>
        </p:nvSpPr>
        <p:spPr>
          <a:xfrm>
            <a:off x="658368" y="329184"/>
            <a:ext cx="3657600" cy="228600"/>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PROPOSED ENGAGEMENT AGENDA</a:t>
            </a:r>
          </a:p>
        </p:txBody>
      </p:sp>
      <p:sp>
        <p:nvSpPr>
          <p:cNvPr id="3" name="TextBox 2"/>
          <p:cNvSpPr txBox="1"/>
          <p:nvPr/>
        </p:nvSpPr>
        <p:spPr>
          <a:xfrm>
            <a:off x="658368" y="676656"/>
            <a:ext cx="10835640" cy="749808"/>
          </a:xfrm>
          <a:prstGeom prst="rect">
            <a:avLst/>
          </a:prstGeom>
          <a:noFill/>
        </p:spPr>
        <p:txBody>
          <a:bodyPr wrap="square" lIns="0" rIns="0" tIns="0" bIns="0" anchor="t">
            <a:spAutoFit/>
          </a:bodyPr>
          <a:lstStyle/>
          <a:p>
            <a:pPr algn="l">
              <a:spcAft>
                <a:spcPts val="0"/>
              </a:spcAft>
            </a:pPr>
            <a:r>
              <a:rPr sz="2900" b="1">
                <a:solidFill>
                  <a:srgbClr val="132A38"/>
                </a:solidFill>
                <a:latin typeface="Segoe UI Semibold"/>
              </a:rPr>
              <a:t>KOH Meets Lagos Riverine Communities</a:t>
            </a:r>
          </a:p>
        </p:txBody>
      </p:sp>
      <p:sp>
        <p:nvSpPr>
          <p:cNvPr id="4" name="TextBox 3"/>
          <p:cNvSpPr txBox="1"/>
          <p:nvPr/>
        </p:nvSpPr>
        <p:spPr>
          <a:xfrm>
            <a:off x="676656" y="1408176"/>
            <a:ext cx="10469880" cy="438912"/>
          </a:xfrm>
          <a:prstGeom prst="rect">
            <a:avLst/>
          </a:prstGeom>
          <a:noFill/>
        </p:spPr>
        <p:txBody>
          <a:bodyPr wrap="square" lIns="0" rIns="0" tIns="0" bIns="0" anchor="t">
            <a:spAutoFit/>
          </a:bodyPr>
          <a:lstStyle/>
          <a:p>
            <a:pPr algn="l">
              <a:spcAft>
                <a:spcPts val="0"/>
              </a:spcAft>
            </a:pPr>
            <a:r>
              <a:rPr sz="1450" b="0">
                <a:solidFill>
                  <a:srgbClr val="60717B"/>
                </a:solidFill>
                <a:latin typeface="Segoe UI"/>
              </a:rPr>
              <a:t>A proposed agenda for His Excellency Dr. Kadri Obafemi Hamzat to engage the evidence, communities and next steps.</a:t>
            </a:r>
          </a:p>
        </p:txBody>
      </p:sp>
      <p:sp>
        <p:nvSpPr>
          <p:cNvPr id="5" name="TextBox 4"/>
          <p:cNvSpPr txBox="1"/>
          <p:nvPr/>
        </p:nvSpPr>
        <p:spPr>
          <a:xfrm>
            <a:off x="11018520" y="310896"/>
            <a:ext cx="502920" cy="228600"/>
          </a:xfrm>
          <a:prstGeom prst="rect">
            <a:avLst/>
          </a:prstGeom>
          <a:noFill/>
        </p:spPr>
        <p:txBody>
          <a:bodyPr wrap="square" lIns="0" rIns="0" tIns="0" bIns="0" anchor="t">
            <a:spAutoFit/>
          </a:bodyPr>
          <a:lstStyle/>
          <a:p>
            <a:pPr algn="r">
              <a:spcAft>
                <a:spcPts val="0"/>
              </a:spcAft>
            </a:pPr>
            <a:r>
              <a:rPr sz="950" b="1">
                <a:solidFill>
                  <a:srgbClr val="60717B"/>
                </a:solidFill>
                <a:latin typeface="Segoe UI"/>
              </a:rPr>
              <a:t>14</a:t>
            </a:r>
          </a:p>
        </p:txBody>
      </p:sp>
      <p:sp>
        <p:nvSpPr>
          <p:cNvPr id="6" name="Rounded Rectangle 5"/>
          <p:cNvSpPr/>
          <p:nvPr/>
        </p:nvSpPr>
        <p:spPr>
          <a:xfrm>
            <a:off x="658368" y="1847088"/>
            <a:ext cx="6784848" cy="4224528"/>
          </a:xfrm>
          <a:prstGeom prst="roundRect">
            <a:avLst>
              <a:gd name="adj" fmla="val 8000"/>
            </a:avLst>
          </a:prstGeom>
          <a:solidFill>
            <a:srgbClr val="FFFFFF"/>
          </a:solidFill>
          <a:ln w="10160">
            <a:solidFill>
              <a:srgbClr val="CCD8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121408"/>
            <a:ext cx="6144768" cy="201168"/>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PROPOSED AGENDA</a:t>
            </a:r>
          </a:p>
        </p:txBody>
      </p:sp>
      <p:sp>
        <p:nvSpPr>
          <p:cNvPr id="8" name="TextBox 7"/>
          <p:cNvSpPr txBox="1"/>
          <p:nvPr/>
        </p:nvSpPr>
        <p:spPr>
          <a:xfrm>
            <a:off x="950976" y="2542032"/>
            <a:ext cx="365760" cy="201168"/>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01</a:t>
            </a:r>
          </a:p>
        </p:txBody>
      </p:sp>
      <p:sp>
        <p:nvSpPr>
          <p:cNvPr id="9" name="TextBox 8"/>
          <p:cNvSpPr txBox="1"/>
          <p:nvPr/>
        </p:nvSpPr>
        <p:spPr>
          <a:xfrm>
            <a:off x="1435608" y="2532888"/>
            <a:ext cx="932688" cy="246888"/>
          </a:xfrm>
          <a:prstGeom prst="rect">
            <a:avLst/>
          </a:prstGeom>
          <a:noFill/>
        </p:spPr>
        <p:txBody>
          <a:bodyPr wrap="square" lIns="0" rIns="0" tIns="0" bIns="0" anchor="t">
            <a:spAutoFit/>
          </a:bodyPr>
          <a:lstStyle/>
          <a:p>
            <a:pPr algn="l">
              <a:spcAft>
                <a:spcPts val="0"/>
              </a:spcAft>
            </a:pPr>
            <a:r>
              <a:rPr sz="1250" b="1">
                <a:solidFill>
                  <a:srgbClr val="132A38"/>
                </a:solidFill>
                <a:latin typeface="Segoe UI"/>
              </a:rPr>
              <a:t>Hear</a:t>
            </a:r>
          </a:p>
        </p:txBody>
      </p:sp>
      <p:sp>
        <p:nvSpPr>
          <p:cNvPr id="10" name="TextBox 9"/>
          <p:cNvSpPr txBox="1"/>
          <p:nvPr/>
        </p:nvSpPr>
        <p:spPr>
          <a:xfrm>
            <a:off x="2496312" y="2532888"/>
            <a:ext cx="4507992" cy="283464"/>
          </a:xfrm>
          <a:prstGeom prst="rect">
            <a:avLst/>
          </a:prstGeom>
          <a:noFill/>
        </p:spPr>
        <p:txBody>
          <a:bodyPr wrap="square" lIns="0" rIns="0" tIns="0" bIns="0" anchor="t">
            <a:spAutoFit/>
          </a:bodyPr>
          <a:lstStyle/>
          <a:p>
            <a:pPr algn="l">
              <a:spcAft>
                <a:spcPts val="0"/>
              </a:spcAft>
            </a:pPr>
            <a:r>
              <a:rPr sz="1170" b="1">
                <a:solidFill>
                  <a:srgbClr val="60717B"/>
                </a:solidFill>
                <a:latin typeface="Segoe UI"/>
              </a:rPr>
              <a:t>What riverine communities are experiencing</a:t>
            </a:r>
          </a:p>
        </p:txBody>
      </p:sp>
      <p:sp>
        <p:nvSpPr>
          <p:cNvPr id="11" name="TextBox 10"/>
          <p:cNvSpPr txBox="1"/>
          <p:nvPr/>
        </p:nvSpPr>
        <p:spPr>
          <a:xfrm>
            <a:off x="950976" y="3072384"/>
            <a:ext cx="365760" cy="201168"/>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02</a:t>
            </a:r>
          </a:p>
        </p:txBody>
      </p:sp>
      <p:sp>
        <p:nvSpPr>
          <p:cNvPr id="12" name="TextBox 11"/>
          <p:cNvSpPr txBox="1"/>
          <p:nvPr/>
        </p:nvSpPr>
        <p:spPr>
          <a:xfrm>
            <a:off x="1435608" y="3063240"/>
            <a:ext cx="932688" cy="246888"/>
          </a:xfrm>
          <a:prstGeom prst="rect">
            <a:avLst/>
          </a:prstGeom>
          <a:noFill/>
        </p:spPr>
        <p:txBody>
          <a:bodyPr wrap="square" lIns="0" rIns="0" tIns="0" bIns="0" anchor="t">
            <a:spAutoFit/>
          </a:bodyPr>
          <a:lstStyle/>
          <a:p>
            <a:pPr algn="l">
              <a:spcAft>
                <a:spcPts val="0"/>
              </a:spcAft>
            </a:pPr>
            <a:r>
              <a:rPr sz="1250" b="1">
                <a:solidFill>
                  <a:srgbClr val="132A38"/>
                </a:solidFill>
                <a:latin typeface="Segoe UI"/>
              </a:rPr>
              <a:t>See</a:t>
            </a:r>
          </a:p>
        </p:txBody>
      </p:sp>
      <p:sp>
        <p:nvSpPr>
          <p:cNvPr id="13" name="TextBox 12"/>
          <p:cNvSpPr txBox="1"/>
          <p:nvPr/>
        </p:nvSpPr>
        <p:spPr>
          <a:xfrm>
            <a:off x="2496312" y="3063240"/>
            <a:ext cx="4507992" cy="283464"/>
          </a:xfrm>
          <a:prstGeom prst="rect">
            <a:avLst/>
          </a:prstGeom>
          <a:noFill/>
        </p:spPr>
        <p:txBody>
          <a:bodyPr wrap="square" lIns="0" rIns="0" tIns="0" bIns="0" anchor="t">
            <a:spAutoFit/>
          </a:bodyPr>
          <a:lstStyle/>
          <a:p>
            <a:pPr algn="l">
              <a:spcAft>
                <a:spcPts val="0"/>
              </a:spcAft>
            </a:pPr>
            <a:r>
              <a:rPr sz="1170" b="1">
                <a:solidFill>
                  <a:srgbClr val="60717B"/>
                </a:solidFill>
                <a:latin typeface="Segoe UI"/>
              </a:rPr>
              <a:t>The register, maps and community-level evidence</a:t>
            </a:r>
          </a:p>
        </p:txBody>
      </p:sp>
      <p:sp>
        <p:nvSpPr>
          <p:cNvPr id="14" name="TextBox 13"/>
          <p:cNvSpPr txBox="1"/>
          <p:nvPr/>
        </p:nvSpPr>
        <p:spPr>
          <a:xfrm>
            <a:off x="950976" y="3602735"/>
            <a:ext cx="365760" cy="201168"/>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03</a:t>
            </a:r>
          </a:p>
        </p:txBody>
      </p:sp>
      <p:sp>
        <p:nvSpPr>
          <p:cNvPr id="15" name="TextBox 14"/>
          <p:cNvSpPr txBox="1"/>
          <p:nvPr/>
        </p:nvSpPr>
        <p:spPr>
          <a:xfrm>
            <a:off x="1435608" y="3593591"/>
            <a:ext cx="932688" cy="246888"/>
          </a:xfrm>
          <a:prstGeom prst="rect">
            <a:avLst/>
          </a:prstGeom>
          <a:noFill/>
        </p:spPr>
        <p:txBody>
          <a:bodyPr wrap="square" lIns="0" rIns="0" tIns="0" bIns="0" anchor="t">
            <a:spAutoFit/>
          </a:bodyPr>
          <a:lstStyle/>
          <a:p>
            <a:pPr algn="l">
              <a:spcAft>
                <a:spcPts val="0"/>
              </a:spcAft>
            </a:pPr>
            <a:r>
              <a:rPr sz="1250" b="1">
                <a:solidFill>
                  <a:srgbClr val="132A38"/>
                </a:solidFill>
                <a:latin typeface="Segoe UI"/>
              </a:rPr>
              <a:t>Review</a:t>
            </a:r>
          </a:p>
        </p:txBody>
      </p:sp>
      <p:sp>
        <p:nvSpPr>
          <p:cNvPr id="16" name="TextBox 15"/>
          <p:cNvSpPr txBox="1"/>
          <p:nvPr/>
        </p:nvSpPr>
        <p:spPr>
          <a:xfrm>
            <a:off x="2496312" y="3593591"/>
            <a:ext cx="4507992" cy="283464"/>
          </a:xfrm>
          <a:prstGeom prst="rect">
            <a:avLst/>
          </a:prstGeom>
          <a:noFill/>
        </p:spPr>
        <p:txBody>
          <a:bodyPr wrap="square" lIns="0" rIns="0" tIns="0" bIns="0" anchor="t">
            <a:spAutoFit/>
          </a:bodyPr>
          <a:lstStyle/>
          <a:p>
            <a:pPr algn="l">
              <a:spcAft>
                <a:spcPts val="0"/>
              </a:spcAft>
            </a:pPr>
            <a:r>
              <a:rPr sz="1170" b="1">
                <a:solidFill>
                  <a:srgbClr val="60717B"/>
                </a:solidFill>
                <a:latin typeface="Segoe UI"/>
              </a:rPr>
              <a:t>Telemedicine, Yegunda water and PVC-support work</a:t>
            </a:r>
          </a:p>
        </p:txBody>
      </p:sp>
      <p:sp>
        <p:nvSpPr>
          <p:cNvPr id="17" name="TextBox 16"/>
          <p:cNvSpPr txBox="1"/>
          <p:nvPr/>
        </p:nvSpPr>
        <p:spPr>
          <a:xfrm>
            <a:off x="950976" y="4133087"/>
            <a:ext cx="365760" cy="201168"/>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04</a:t>
            </a:r>
          </a:p>
        </p:txBody>
      </p:sp>
      <p:sp>
        <p:nvSpPr>
          <p:cNvPr id="18" name="TextBox 17"/>
          <p:cNvSpPr txBox="1"/>
          <p:nvPr/>
        </p:nvSpPr>
        <p:spPr>
          <a:xfrm>
            <a:off x="1435608" y="4123944"/>
            <a:ext cx="932688" cy="246888"/>
          </a:xfrm>
          <a:prstGeom prst="rect">
            <a:avLst/>
          </a:prstGeom>
          <a:noFill/>
        </p:spPr>
        <p:txBody>
          <a:bodyPr wrap="square" lIns="0" rIns="0" tIns="0" bIns="0" anchor="t">
            <a:spAutoFit/>
          </a:bodyPr>
          <a:lstStyle/>
          <a:p>
            <a:pPr algn="l">
              <a:spcAft>
                <a:spcPts val="0"/>
              </a:spcAft>
            </a:pPr>
            <a:r>
              <a:rPr sz="1250" b="1">
                <a:solidFill>
                  <a:srgbClr val="132A38"/>
                </a:solidFill>
                <a:latin typeface="Segoe UI"/>
              </a:rPr>
              <a:t>Select</a:t>
            </a:r>
          </a:p>
        </p:txBody>
      </p:sp>
      <p:sp>
        <p:nvSpPr>
          <p:cNvPr id="19" name="TextBox 18"/>
          <p:cNvSpPr txBox="1"/>
          <p:nvPr/>
        </p:nvSpPr>
        <p:spPr>
          <a:xfrm>
            <a:off x="2496312" y="4123944"/>
            <a:ext cx="4507992" cy="283464"/>
          </a:xfrm>
          <a:prstGeom prst="rect">
            <a:avLst/>
          </a:prstGeom>
          <a:noFill/>
        </p:spPr>
        <p:txBody>
          <a:bodyPr wrap="square" lIns="0" rIns="0" tIns="0" bIns="0" anchor="t">
            <a:spAutoFit/>
          </a:bodyPr>
          <a:lstStyle/>
          <a:p>
            <a:pPr algn="l">
              <a:spcAft>
                <a:spcPts val="0"/>
              </a:spcAft>
            </a:pPr>
            <a:r>
              <a:rPr sz="1170" b="1">
                <a:solidFill>
                  <a:srgbClr val="60717B"/>
                </a:solidFill>
                <a:latin typeface="Segoe UI"/>
              </a:rPr>
              <a:t>One priority cluster and practical pilot intervention</a:t>
            </a:r>
          </a:p>
        </p:txBody>
      </p:sp>
      <p:sp>
        <p:nvSpPr>
          <p:cNvPr id="20" name="TextBox 19"/>
          <p:cNvSpPr txBox="1"/>
          <p:nvPr/>
        </p:nvSpPr>
        <p:spPr>
          <a:xfrm>
            <a:off x="950976" y="4663440"/>
            <a:ext cx="365760" cy="201168"/>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05</a:t>
            </a:r>
          </a:p>
        </p:txBody>
      </p:sp>
      <p:sp>
        <p:nvSpPr>
          <p:cNvPr id="21" name="TextBox 20"/>
          <p:cNvSpPr txBox="1"/>
          <p:nvPr/>
        </p:nvSpPr>
        <p:spPr>
          <a:xfrm>
            <a:off x="1435608" y="4654296"/>
            <a:ext cx="932688" cy="246888"/>
          </a:xfrm>
          <a:prstGeom prst="rect">
            <a:avLst/>
          </a:prstGeom>
          <a:noFill/>
        </p:spPr>
        <p:txBody>
          <a:bodyPr wrap="square" lIns="0" rIns="0" tIns="0" bIns="0" anchor="t">
            <a:spAutoFit/>
          </a:bodyPr>
          <a:lstStyle/>
          <a:p>
            <a:pPr algn="l">
              <a:spcAft>
                <a:spcPts val="0"/>
              </a:spcAft>
            </a:pPr>
            <a:r>
              <a:rPr sz="1250" b="1">
                <a:solidFill>
                  <a:srgbClr val="132A38"/>
                </a:solidFill>
                <a:latin typeface="Segoe UI"/>
              </a:rPr>
              <a:t>Convene</a:t>
            </a:r>
          </a:p>
        </p:txBody>
      </p:sp>
      <p:sp>
        <p:nvSpPr>
          <p:cNvPr id="22" name="TextBox 21"/>
          <p:cNvSpPr txBox="1"/>
          <p:nvPr/>
        </p:nvSpPr>
        <p:spPr>
          <a:xfrm>
            <a:off x="2496312" y="4654296"/>
            <a:ext cx="4507992" cy="283464"/>
          </a:xfrm>
          <a:prstGeom prst="rect">
            <a:avLst/>
          </a:prstGeom>
          <a:noFill/>
        </p:spPr>
        <p:txBody>
          <a:bodyPr wrap="square" lIns="0" rIns="0" tIns="0" bIns="0" anchor="t">
            <a:spAutoFit/>
          </a:bodyPr>
          <a:lstStyle/>
          <a:p>
            <a:pPr algn="l">
              <a:spcAft>
                <a:spcPts val="0"/>
              </a:spcAft>
            </a:pPr>
            <a:r>
              <a:rPr sz="1170" b="1">
                <a:solidFill>
                  <a:srgbClr val="60717B"/>
                </a:solidFill>
                <a:latin typeface="Segoe UI"/>
              </a:rPr>
              <a:t>Relevant MDAs, partners and community leadership</a:t>
            </a:r>
          </a:p>
        </p:txBody>
      </p:sp>
      <p:sp>
        <p:nvSpPr>
          <p:cNvPr id="23" name="TextBox 22"/>
          <p:cNvSpPr txBox="1"/>
          <p:nvPr/>
        </p:nvSpPr>
        <p:spPr>
          <a:xfrm>
            <a:off x="950976" y="5193792"/>
            <a:ext cx="365760" cy="201168"/>
          </a:xfrm>
          <a:prstGeom prst="rect">
            <a:avLst/>
          </a:prstGeom>
          <a:noFill/>
        </p:spPr>
        <p:txBody>
          <a:bodyPr wrap="square" lIns="0" rIns="0" tIns="0" bIns="0" anchor="t">
            <a:spAutoFit/>
          </a:bodyPr>
          <a:lstStyle/>
          <a:p>
            <a:pPr algn="l">
              <a:spcAft>
                <a:spcPts val="0"/>
              </a:spcAft>
            </a:pPr>
            <a:r>
              <a:rPr sz="1000" b="1">
                <a:solidFill>
                  <a:srgbClr val="1A9C91"/>
                </a:solidFill>
                <a:latin typeface="Segoe UI"/>
              </a:rPr>
              <a:t>06</a:t>
            </a:r>
          </a:p>
        </p:txBody>
      </p:sp>
      <p:sp>
        <p:nvSpPr>
          <p:cNvPr id="24" name="TextBox 23"/>
          <p:cNvSpPr txBox="1"/>
          <p:nvPr/>
        </p:nvSpPr>
        <p:spPr>
          <a:xfrm>
            <a:off x="1435608" y="5184648"/>
            <a:ext cx="932688" cy="246888"/>
          </a:xfrm>
          <a:prstGeom prst="rect">
            <a:avLst/>
          </a:prstGeom>
          <a:noFill/>
        </p:spPr>
        <p:txBody>
          <a:bodyPr wrap="square" lIns="0" rIns="0" tIns="0" bIns="0" anchor="t">
            <a:spAutoFit/>
          </a:bodyPr>
          <a:lstStyle/>
          <a:p>
            <a:pPr algn="l">
              <a:spcAft>
                <a:spcPts val="0"/>
              </a:spcAft>
            </a:pPr>
            <a:r>
              <a:rPr sz="1250" b="1">
                <a:solidFill>
                  <a:srgbClr val="132A38"/>
                </a:solidFill>
                <a:latin typeface="Segoe UI"/>
              </a:rPr>
              <a:t>Agree</a:t>
            </a:r>
          </a:p>
        </p:txBody>
      </p:sp>
      <p:sp>
        <p:nvSpPr>
          <p:cNvPr id="25" name="TextBox 24"/>
          <p:cNvSpPr txBox="1"/>
          <p:nvPr/>
        </p:nvSpPr>
        <p:spPr>
          <a:xfrm>
            <a:off x="2496312" y="5184648"/>
            <a:ext cx="4507992" cy="283464"/>
          </a:xfrm>
          <a:prstGeom prst="rect">
            <a:avLst/>
          </a:prstGeom>
          <a:noFill/>
        </p:spPr>
        <p:txBody>
          <a:bodyPr wrap="square" lIns="0" rIns="0" tIns="0" bIns="0" anchor="t">
            <a:spAutoFit/>
          </a:bodyPr>
          <a:lstStyle/>
          <a:p>
            <a:pPr algn="l">
              <a:spcAft>
                <a:spcPts val="0"/>
              </a:spcAft>
            </a:pPr>
            <a:r>
              <a:rPr sz="1170" b="1">
                <a:solidFill>
                  <a:srgbClr val="60717B"/>
                </a:solidFill>
                <a:latin typeface="Segoe UI"/>
              </a:rPr>
              <a:t>A clear validation, delivery and follow-up pathway</a:t>
            </a:r>
          </a:p>
        </p:txBody>
      </p:sp>
      <p:pic>
        <p:nvPicPr>
          <p:cNvPr id="26" name="Blue Lagos partner engagement photograph" descr="crop_partner_b_843_202_415_177.jpg"/>
          <p:cNvPicPr>
            <a:picLocks noChangeAspect="1"/>
          </p:cNvPicPr>
          <p:nvPr/>
        </p:nvPicPr>
        <p:blipFill>
          <a:blip r:embed="rId2"/>
          <a:stretch>
            <a:fillRect/>
          </a:stretch>
        </p:blipFill>
        <p:spPr>
          <a:xfrm>
            <a:off x="7708392" y="1847088"/>
            <a:ext cx="3794760" cy="1618488"/>
          </a:xfrm>
          <a:prstGeom prst="rect">
            <a:avLst/>
          </a:prstGeom>
        </p:spPr>
      </p:pic>
      <p:sp>
        <p:nvSpPr>
          <p:cNvPr id="27" name="Rounded Rectangle 26"/>
          <p:cNvSpPr/>
          <p:nvPr/>
        </p:nvSpPr>
        <p:spPr>
          <a:xfrm>
            <a:off x="7708392" y="3639312"/>
            <a:ext cx="3794760" cy="2432304"/>
          </a:xfrm>
          <a:prstGeom prst="roundRect">
            <a:avLst>
              <a:gd name="adj" fmla="val 8000"/>
            </a:avLst>
          </a:prstGeom>
          <a:solidFill>
            <a:srgbClr val="07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28431" y="3931920"/>
            <a:ext cx="3127248" cy="201168"/>
          </a:xfrm>
          <a:prstGeom prst="rect">
            <a:avLst/>
          </a:prstGeom>
          <a:noFill/>
        </p:spPr>
        <p:txBody>
          <a:bodyPr wrap="square" lIns="0" rIns="0" tIns="0" bIns="0" anchor="t">
            <a:spAutoFit/>
          </a:bodyPr>
          <a:lstStyle/>
          <a:p>
            <a:pPr algn="l">
              <a:spcAft>
                <a:spcPts val="0"/>
              </a:spcAft>
            </a:pPr>
            <a:r>
              <a:rPr sz="1000" b="1">
                <a:solidFill>
                  <a:srgbClr val="67D6CF"/>
                </a:solidFill>
                <a:latin typeface="Segoe UI"/>
              </a:rPr>
              <a:t>COLLABORATION MODEL</a:t>
            </a:r>
          </a:p>
        </p:txBody>
      </p:sp>
      <p:sp>
        <p:nvSpPr>
          <p:cNvPr id="29" name="TextBox 28"/>
          <p:cNvSpPr txBox="1"/>
          <p:nvPr/>
        </p:nvSpPr>
        <p:spPr>
          <a:xfrm>
            <a:off x="8028431" y="4352544"/>
            <a:ext cx="3063240" cy="1335024"/>
          </a:xfrm>
          <a:prstGeom prst="rect">
            <a:avLst/>
          </a:prstGeom>
          <a:noFill/>
        </p:spPr>
        <p:txBody>
          <a:bodyPr wrap="square" lIns="0" rIns="0" tIns="0" bIns="0" anchor="t">
            <a:spAutoFit/>
          </a:bodyPr>
          <a:lstStyle/>
          <a:p>
            <a:pPr algn="l">
              <a:spcAft>
                <a:spcPts val="0"/>
              </a:spcAft>
            </a:pPr>
            <a:r>
              <a:rPr sz="1250" b="1">
                <a:solidFill>
                  <a:srgbClr val="FFFFFF"/>
                </a:solidFill>
                <a:latin typeface="Segoe UI"/>
              </a:rPr>
              <a:t>Communities + leaders
Relevant Lagos State MDAs
Health, water + civic partners
Private and social-impact partners
Research + spatial/data support</a:t>
            </a:r>
          </a:p>
        </p:txBody>
      </p:sp>
      <p:sp>
        <p:nvSpPr>
          <p:cNvPr id="30" name="Rectangle 29"/>
          <p:cNvSpPr/>
          <p:nvPr/>
        </p:nvSpPr>
        <p:spPr>
          <a:xfrm>
            <a:off x="658368" y="6510528"/>
            <a:ext cx="10844784" cy="10972"/>
          </a:xfrm>
          <a:prstGeom prst="rect">
            <a:avLst/>
          </a:prstGeom>
          <a:solidFill>
            <a:srgbClr val="CCD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6556248"/>
            <a:ext cx="9966960" cy="173736"/>
          </a:xfrm>
          <a:prstGeom prst="rect">
            <a:avLst/>
          </a:prstGeom>
          <a:noFill/>
        </p:spPr>
        <p:txBody>
          <a:bodyPr wrap="square" lIns="0" rIns="0" tIns="0" bIns="0" anchor="t">
            <a:spAutoFit/>
          </a:bodyPr>
          <a:lstStyle/>
          <a:p>
            <a:pPr algn="l">
              <a:spcAft>
                <a:spcPts val="0"/>
              </a:spcAft>
            </a:pPr>
            <a:r>
              <a:rPr sz="940" b="0">
                <a:solidFill>
                  <a:srgbClr val="60717B"/>
                </a:solidFill>
                <a:latin typeface="Segoe UI"/>
              </a:rPr>
              <a:t>KOH refers to Dr. Kadri Obafemi Hamzat. This is a proposed engagement agenda, not an organisation or funding programme.</a:t>
            </a:r>
          </a:p>
        </p:txBody>
      </p:sp>
      <p:sp>
        <p:nvSpPr>
          <p:cNvPr id="32" name="TextBox 31"/>
          <p:cNvSpPr txBox="1"/>
          <p:nvPr/>
        </p:nvSpPr>
        <p:spPr>
          <a:xfrm>
            <a:off x="10195560" y="6556248"/>
            <a:ext cx="1307592" cy="173736"/>
          </a:xfrm>
          <a:prstGeom prst="rect">
            <a:avLst/>
          </a:prstGeom>
          <a:noFill/>
        </p:spPr>
        <p:txBody>
          <a:bodyPr wrap="square" lIns="0" rIns="0" tIns="0" bIns="0" anchor="t">
            <a:spAutoFit/>
          </a:bodyPr>
          <a:lstStyle/>
          <a:p>
            <a:pPr algn="r">
              <a:spcAft>
                <a:spcPts val="0"/>
              </a:spcAft>
            </a:pPr>
            <a:r>
              <a:rPr sz="940" b="1">
                <a:solidFill>
                  <a:srgbClr val="60717B"/>
                </a:solidFill>
                <a:latin typeface="Segoe UI"/>
              </a:rPr>
              <a:t>BLUE LAGOS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1C2C"/>
        </a:solidFill>
        <a:effectLst/>
      </p:bgPr>
    </p:bg>
    <p:spTree>
      <p:nvGrpSpPr>
        <p:cNvPr id="1" name=""/>
        <p:cNvGrpSpPr/>
        <p:nvPr/>
      </p:nvGrpSpPr>
      <p:grpSpPr/>
      <p:pic>
        <p:nvPicPr>
          <p:cNvPr id="2" name="Picture 1" descr="crop_banner_908_0_425_750.jpg"/>
          <p:cNvPicPr>
            <a:picLocks noChangeAspect="1"/>
          </p:cNvPicPr>
          <p:nvPr/>
        </p:nvPicPr>
        <p:blipFill>
          <a:blip r:embed="rId2"/>
          <a:stretch>
            <a:fillRect/>
          </a:stretch>
        </p:blipFill>
        <p:spPr>
          <a:xfrm>
            <a:off x="8302752" y="0"/>
            <a:ext cx="3886200" cy="6858000"/>
          </a:xfrm>
          <a:prstGeom prst="rect">
            <a:avLst/>
          </a:prstGeom>
        </p:spPr>
      </p:pic>
      <p:sp>
        <p:nvSpPr>
          <p:cNvPr id="3" name="Rectangle 2"/>
          <p:cNvSpPr/>
          <p:nvPr/>
        </p:nvSpPr>
        <p:spPr>
          <a:xfrm>
            <a:off x="8211312" y="0"/>
            <a:ext cx="91440" cy="6858000"/>
          </a:xfrm>
          <a:prstGeom prst="rect">
            <a:avLst/>
          </a:prstGeom>
          <a:solidFill>
            <a:srgbClr val="1A9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Official Blue Lagos logo extracted from baseline report" descr="blue_lagos_logo.png"/>
          <p:cNvPicPr>
            <a:picLocks noChangeAspect="1"/>
          </p:cNvPicPr>
          <p:nvPr/>
        </p:nvPicPr>
        <p:blipFill>
          <a:blip r:embed="rId3"/>
          <a:stretch>
            <a:fillRect/>
          </a:stretch>
        </p:blipFill>
        <p:spPr>
          <a:xfrm>
            <a:off x="658368" y="475488"/>
            <a:ext cx="1828800" cy="883267"/>
          </a:xfrm>
          <a:prstGeom prst="rect">
            <a:avLst/>
          </a:prstGeom>
        </p:spPr>
      </p:pic>
      <p:sp>
        <p:nvSpPr>
          <p:cNvPr id="5" name="TextBox 4"/>
          <p:cNvSpPr txBox="1"/>
          <p:nvPr/>
        </p:nvSpPr>
        <p:spPr>
          <a:xfrm>
            <a:off x="658368" y="1417320"/>
            <a:ext cx="7132320" cy="1115568"/>
          </a:xfrm>
          <a:prstGeom prst="rect">
            <a:avLst/>
          </a:prstGeom>
          <a:noFill/>
        </p:spPr>
        <p:txBody>
          <a:bodyPr wrap="square" lIns="0" rIns="0" tIns="0" bIns="0" anchor="t">
            <a:spAutoFit/>
          </a:bodyPr>
          <a:lstStyle/>
          <a:p>
            <a:pPr algn="l">
              <a:spcAft>
                <a:spcPts val="0"/>
              </a:spcAft>
            </a:pPr>
            <a:r>
              <a:rPr sz="2400" b="1">
                <a:solidFill>
                  <a:srgbClr val="FFFFFF"/>
                </a:solidFill>
                <a:latin typeface="Segoe UI Semibold"/>
              </a:rPr>
              <a:t>Help us turn this evidence into a repeatable
Lagos riverine planning programme.</a:t>
            </a:r>
          </a:p>
        </p:txBody>
      </p:sp>
      <p:sp>
        <p:nvSpPr>
          <p:cNvPr id="6" name="Rounded Rectangle 5"/>
          <p:cNvSpPr/>
          <p:nvPr/>
        </p:nvSpPr>
        <p:spPr>
          <a:xfrm>
            <a:off x="658368" y="2980944"/>
            <a:ext cx="2176272" cy="1234440"/>
          </a:xfrm>
          <a:prstGeom prst="roundRect">
            <a:avLst>
              <a:gd name="adj" fmla="val 8000"/>
            </a:avLst>
          </a:prstGeom>
          <a:solidFill>
            <a:srgbClr val="0D2D42"/>
          </a:solidFill>
          <a:ln w="10160">
            <a:solidFill>
              <a:srgbClr val="315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200400"/>
            <a:ext cx="1810512" cy="201168"/>
          </a:xfrm>
          <a:prstGeom prst="rect">
            <a:avLst/>
          </a:prstGeom>
          <a:noFill/>
        </p:spPr>
        <p:txBody>
          <a:bodyPr wrap="square" lIns="0" rIns="0" tIns="0" bIns="0" anchor="t">
            <a:spAutoFit/>
          </a:bodyPr>
          <a:lstStyle/>
          <a:p>
            <a:pPr algn="l">
              <a:spcAft>
                <a:spcPts val="0"/>
              </a:spcAft>
            </a:pPr>
            <a:r>
              <a:rPr sz="1050" b="1">
                <a:solidFill>
                  <a:srgbClr val="67D6CF"/>
                </a:solidFill>
                <a:latin typeface="Segoe UI"/>
              </a:rPr>
              <a:t>CONNECT</a:t>
            </a:r>
          </a:p>
        </p:txBody>
      </p:sp>
      <p:sp>
        <p:nvSpPr>
          <p:cNvPr id="8" name="TextBox 7"/>
          <p:cNvSpPr txBox="1"/>
          <p:nvPr/>
        </p:nvSpPr>
        <p:spPr>
          <a:xfrm>
            <a:off x="822959" y="3529584"/>
            <a:ext cx="1810512" cy="530352"/>
          </a:xfrm>
          <a:prstGeom prst="rect">
            <a:avLst/>
          </a:prstGeom>
          <a:noFill/>
        </p:spPr>
        <p:txBody>
          <a:bodyPr wrap="square" lIns="0" rIns="0" tIns="0" bIns="0" anchor="t">
            <a:spAutoFit/>
          </a:bodyPr>
          <a:lstStyle/>
          <a:p>
            <a:pPr algn="l">
              <a:spcAft>
                <a:spcPts val="0"/>
              </a:spcAft>
            </a:pPr>
            <a:r>
              <a:rPr sz="1150" b="1">
                <a:solidFill>
                  <a:srgbClr val="FFFFFF"/>
                </a:solidFill>
                <a:latin typeface="Segoe UI"/>
              </a:rPr>
              <a:t>Connect Blue Lagos with relevant MDAs and data owners.</a:t>
            </a:r>
          </a:p>
        </p:txBody>
      </p:sp>
      <p:sp>
        <p:nvSpPr>
          <p:cNvPr id="9" name="Rounded Rectangle 8"/>
          <p:cNvSpPr/>
          <p:nvPr/>
        </p:nvSpPr>
        <p:spPr>
          <a:xfrm>
            <a:off x="3081528" y="2980944"/>
            <a:ext cx="2176272" cy="1234440"/>
          </a:xfrm>
          <a:prstGeom prst="roundRect">
            <a:avLst>
              <a:gd name="adj" fmla="val 8000"/>
            </a:avLst>
          </a:prstGeom>
          <a:solidFill>
            <a:srgbClr val="0D2D42"/>
          </a:solidFill>
          <a:ln w="10160">
            <a:solidFill>
              <a:srgbClr val="315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6120" y="3200400"/>
            <a:ext cx="1810512" cy="201168"/>
          </a:xfrm>
          <a:prstGeom prst="rect">
            <a:avLst/>
          </a:prstGeom>
          <a:noFill/>
        </p:spPr>
        <p:txBody>
          <a:bodyPr wrap="square" lIns="0" rIns="0" tIns="0" bIns="0" anchor="t">
            <a:spAutoFit/>
          </a:bodyPr>
          <a:lstStyle/>
          <a:p>
            <a:pPr algn="l">
              <a:spcAft>
                <a:spcPts val="0"/>
              </a:spcAft>
            </a:pPr>
            <a:r>
              <a:rPr sz="1050" b="1">
                <a:solidFill>
                  <a:srgbClr val="67D6CF"/>
                </a:solidFill>
                <a:latin typeface="Segoe UI"/>
              </a:rPr>
              <a:t>PILOT</a:t>
            </a:r>
          </a:p>
        </p:txBody>
      </p:sp>
      <p:sp>
        <p:nvSpPr>
          <p:cNvPr id="11" name="TextBox 10"/>
          <p:cNvSpPr txBox="1"/>
          <p:nvPr/>
        </p:nvSpPr>
        <p:spPr>
          <a:xfrm>
            <a:off x="3246120" y="3529584"/>
            <a:ext cx="1810512" cy="530352"/>
          </a:xfrm>
          <a:prstGeom prst="rect">
            <a:avLst/>
          </a:prstGeom>
          <a:noFill/>
        </p:spPr>
        <p:txBody>
          <a:bodyPr wrap="square" lIns="0" rIns="0" tIns="0" bIns="0" anchor="t">
            <a:spAutoFit/>
          </a:bodyPr>
          <a:lstStyle/>
          <a:p>
            <a:pPr algn="l">
              <a:spcAft>
                <a:spcPts val="0"/>
              </a:spcAft>
            </a:pPr>
            <a:r>
              <a:rPr sz="1150" b="1">
                <a:solidFill>
                  <a:srgbClr val="FFFFFF"/>
                </a:solidFill>
                <a:latin typeface="Segoe UI"/>
              </a:rPr>
              <a:t>Select priority communities for one real intervention.</a:t>
            </a:r>
          </a:p>
        </p:txBody>
      </p:sp>
      <p:sp>
        <p:nvSpPr>
          <p:cNvPr id="12" name="Rounded Rectangle 11"/>
          <p:cNvSpPr/>
          <p:nvPr/>
        </p:nvSpPr>
        <p:spPr>
          <a:xfrm>
            <a:off x="5504688" y="2980944"/>
            <a:ext cx="2176272" cy="1234440"/>
          </a:xfrm>
          <a:prstGeom prst="roundRect">
            <a:avLst>
              <a:gd name="adj" fmla="val 8000"/>
            </a:avLst>
          </a:prstGeom>
          <a:solidFill>
            <a:srgbClr val="0D2D42"/>
          </a:solidFill>
          <a:ln w="10160">
            <a:solidFill>
              <a:srgbClr val="3151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79" y="3200400"/>
            <a:ext cx="1810512" cy="201168"/>
          </a:xfrm>
          <a:prstGeom prst="rect">
            <a:avLst/>
          </a:prstGeom>
          <a:noFill/>
        </p:spPr>
        <p:txBody>
          <a:bodyPr wrap="square" lIns="0" rIns="0" tIns="0" bIns="0" anchor="t">
            <a:spAutoFit/>
          </a:bodyPr>
          <a:lstStyle/>
          <a:p>
            <a:pPr algn="l">
              <a:spcAft>
                <a:spcPts val="0"/>
              </a:spcAft>
            </a:pPr>
            <a:r>
              <a:rPr sz="1050" b="1">
                <a:solidFill>
                  <a:srgbClr val="67D6CF"/>
                </a:solidFill>
                <a:latin typeface="Segoe UI"/>
              </a:rPr>
              <a:t>SCALE</a:t>
            </a:r>
          </a:p>
        </p:txBody>
      </p:sp>
      <p:sp>
        <p:nvSpPr>
          <p:cNvPr id="14" name="TextBox 13"/>
          <p:cNvSpPr txBox="1"/>
          <p:nvPr/>
        </p:nvSpPr>
        <p:spPr>
          <a:xfrm>
            <a:off x="5669279" y="3529584"/>
            <a:ext cx="1810512" cy="530352"/>
          </a:xfrm>
          <a:prstGeom prst="rect">
            <a:avLst/>
          </a:prstGeom>
          <a:noFill/>
        </p:spPr>
        <p:txBody>
          <a:bodyPr wrap="square" lIns="0" rIns="0" tIns="0" bIns="0" anchor="t">
            <a:spAutoFit/>
          </a:bodyPr>
          <a:lstStyle/>
          <a:p>
            <a:pPr algn="l">
              <a:spcAft>
                <a:spcPts val="0"/>
              </a:spcAft>
            </a:pPr>
            <a:r>
              <a:rPr sz="1150" b="1">
                <a:solidFill>
                  <a:srgbClr val="FFFFFF"/>
                </a:solidFill>
                <a:latin typeface="Segoe UI"/>
              </a:rPr>
              <a:t>Update data and monitor interventions across riverine Lagos.</a:t>
            </a:r>
          </a:p>
        </p:txBody>
      </p:sp>
      <p:sp>
        <p:nvSpPr>
          <p:cNvPr id="15" name="TextBox 14"/>
          <p:cNvSpPr txBox="1"/>
          <p:nvPr/>
        </p:nvSpPr>
        <p:spPr>
          <a:xfrm>
            <a:off x="676656" y="4645152"/>
            <a:ext cx="7223760" cy="530352"/>
          </a:xfrm>
          <a:prstGeom prst="rect">
            <a:avLst/>
          </a:prstGeom>
          <a:noFill/>
        </p:spPr>
        <p:txBody>
          <a:bodyPr wrap="square" lIns="0" rIns="0" tIns="0" bIns="0" anchor="t">
            <a:spAutoFit/>
          </a:bodyPr>
          <a:lstStyle/>
          <a:p>
            <a:pPr algn="l">
              <a:spcAft>
                <a:spcPts val="0"/>
              </a:spcAft>
            </a:pPr>
            <a:r>
              <a:rPr sz="2400" b="1">
                <a:solidFill>
                  <a:srgbClr val="67D6CF"/>
                </a:solidFill>
                <a:latin typeface="Segoe UI"/>
              </a:rPr>
              <a:t>134</a:t>
            </a:r>
            <a:r>
              <a:rPr sz="1200" b="1">
                <a:solidFill>
                  <a:srgbClr val="FFFFFF"/>
                </a:solidFill>
                <a:latin typeface="Segoe UI"/>
              </a:rPr>
              <a:t> communities</a:t>
            </a:r>
            <a:r>
              <a:rPr sz="1200" b="0">
                <a:solidFill>
                  <a:srgbClr val="BFD1D9"/>
                </a:solidFill>
                <a:latin typeface="Segoe UI"/>
              </a:rPr>
              <a:t>   |   </a:t>
            </a:r>
            <a:r>
              <a:rPr sz="2400" b="1">
                <a:solidFill>
                  <a:srgbClr val="FFFFFF"/>
                </a:solidFill>
                <a:latin typeface="Segoe UI"/>
              </a:rPr>
              <a:t>502,002</a:t>
            </a:r>
            <a:r>
              <a:rPr sz="1200" b="1">
                <a:solidFill>
                  <a:srgbClr val="FFFFFF"/>
                </a:solidFill>
                <a:latin typeface="Segoe UI"/>
              </a:rPr>
              <a:t> people</a:t>
            </a:r>
            <a:r>
              <a:rPr sz="1200" b="0">
                <a:solidFill>
                  <a:srgbClr val="BFD1D9"/>
                </a:solidFill>
                <a:latin typeface="Segoe UI"/>
              </a:rPr>
              <a:t>   |   </a:t>
            </a:r>
            <a:r>
              <a:rPr sz="2400" b="1">
                <a:solidFill>
                  <a:srgbClr val="D8B47A"/>
                </a:solidFill>
                <a:latin typeface="Segoe UI"/>
              </a:rPr>
              <a:t>120</a:t>
            </a:r>
            <a:r>
              <a:rPr sz="1200" b="1">
                <a:solidFill>
                  <a:srgbClr val="FFFFFF"/>
                </a:solidFill>
                <a:latin typeface="Segoe UI"/>
              </a:rPr>
              <a:t> telemedicine communities</a:t>
            </a:r>
          </a:p>
        </p:txBody>
      </p:sp>
      <p:sp>
        <p:nvSpPr>
          <p:cNvPr id="16" name="TextBox 15"/>
          <p:cNvSpPr txBox="1"/>
          <p:nvPr/>
        </p:nvSpPr>
        <p:spPr>
          <a:xfrm>
            <a:off x="676656" y="5212080"/>
            <a:ext cx="6995160" cy="429768"/>
          </a:xfrm>
          <a:prstGeom prst="rect">
            <a:avLst/>
          </a:prstGeom>
          <a:noFill/>
        </p:spPr>
        <p:txBody>
          <a:bodyPr wrap="square" lIns="0" rIns="0" tIns="0" bIns="0" anchor="t">
            <a:spAutoFit/>
          </a:bodyPr>
          <a:lstStyle/>
          <a:p>
            <a:pPr algn="l">
              <a:spcAft>
                <a:spcPts val="0"/>
              </a:spcAft>
            </a:pPr>
            <a:r>
              <a:rPr sz="1250" b="1">
                <a:solidFill>
                  <a:srgbClr val="FFFFFF"/>
                </a:solidFill>
                <a:latin typeface="Segoe UI"/>
              </a:rPr>
              <a:t>The goal is simple: make it easier for riverine communities to be seen, understood and served.</a:t>
            </a:r>
          </a:p>
        </p:txBody>
      </p:sp>
      <p:sp>
        <p:nvSpPr>
          <p:cNvPr id="17" name="TextBox 16"/>
          <p:cNvSpPr txBox="1"/>
          <p:nvPr/>
        </p:nvSpPr>
        <p:spPr>
          <a:xfrm>
            <a:off x="676656" y="5925312"/>
            <a:ext cx="4297680" cy="201168"/>
          </a:xfrm>
          <a:prstGeom prst="rect">
            <a:avLst/>
          </a:prstGeom>
          <a:noFill/>
        </p:spPr>
        <p:txBody>
          <a:bodyPr wrap="square" lIns="0" rIns="0" tIns="0" bIns="0" anchor="t">
            <a:spAutoFit/>
          </a:bodyPr>
          <a:lstStyle/>
          <a:p>
            <a:pPr algn="l">
              <a:spcAft>
                <a:spcPts val="0"/>
              </a:spcAft>
            </a:pPr>
            <a:r>
              <a:rPr sz="1150" b="1">
                <a:solidFill>
                  <a:srgbClr val="DCE7EA"/>
                </a:solidFill>
                <a:latin typeface="Segoe UI"/>
              </a:rPr>
              <a:t>Blue Lagos Sustainability Initiative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Lagos: From Riverine Communities to Better Decisions</dc:title>
  <dc:subject>Blue Lagos community evidence, interventions and proposed next steps</dc:subject>
  <dc:creator>Blue Lagos Sustainability Initiative</dc:creator>
  <cp:keywords>Blue Lagos, riverine communities, Lagos State, geospatial planning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